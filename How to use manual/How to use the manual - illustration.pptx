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XLpxC1D9FSb7bHk4EVlH5jlF0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ee2c27f5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ee2c27f5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ee2c27f5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ee2c27f5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61977" y="103158"/>
            <a:ext cx="5106594" cy="8629468"/>
            <a:chOff x="1061977" y="103158"/>
            <a:chExt cx="5106594" cy="8629468"/>
          </a:xfrm>
        </p:grpSpPr>
        <p:sp>
          <p:nvSpPr>
            <p:cNvPr id="85" name="Google Shape;85;p1"/>
            <p:cNvSpPr/>
            <p:nvPr/>
          </p:nvSpPr>
          <p:spPr>
            <a:xfrm>
              <a:off x="1061977" y="103158"/>
              <a:ext cx="1408486" cy="2791443"/>
            </a:xfrm>
            <a:prstGeom prst="rect">
              <a:avLst/>
            </a:prstGeom>
            <a:solidFill>
              <a:srgbClr val="833C0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Considerat-ions that influences overall building design </a:t>
              </a:r>
              <a:endParaRPr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2537595" y="2993087"/>
              <a:ext cx="3621300" cy="800798"/>
            </a:xfrm>
            <a:prstGeom prst="rect">
              <a:avLst/>
            </a:prstGeom>
            <a:noFill/>
            <a:ln cap="flat" cmpd="sng" w="12700">
              <a:solidFill>
                <a:srgbClr val="BF9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Outpatient care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(Clinics, investigation areas &amp; outpatient procedural areas </a:t>
              </a: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2537596" y="129572"/>
              <a:ext cx="3621300" cy="14775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High level considerations 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chemeClr val="dk1"/>
                  </a:solidFill>
                </a:rPr>
                <a:t>patient flow</a:t>
              </a:r>
              <a:endParaRPr sz="1800">
                <a:solidFill>
                  <a:schemeClr val="dk1"/>
                </a:solidFill>
              </a:endParaRPr>
            </a:p>
            <a:p>
              <a:pPr indent="-3429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Char char="•"/>
              </a:pPr>
              <a:r>
                <a:rPr lang="en-US" sz="1800">
                  <a:solidFill>
                    <a:schemeClr val="dk1"/>
                  </a:solidFill>
                </a:rPr>
                <a:t>adjacencies 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building orientation &amp; lighting </a:t>
              </a:r>
              <a:endParaRPr/>
            </a:p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future expansion</a:t>
              </a:r>
              <a:endParaRPr/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2537595" y="1718911"/>
              <a:ext cx="3621300" cy="64633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considerations for patient &amp; staff safety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2537595" y="2481727"/>
              <a:ext cx="3621300" cy="369332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55A1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Guidelines for support functions  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1061977" y="2954383"/>
              <a:ext cx="1408486" cy="2141323"/>
            </a:xfrm>
            <a:prstGeom prst="rect">
              <a:avLst/>
            </a:prstGeom>
            <a:solidFill>
              <a:srgbClr val="7F6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At functional level – Core clinical units </a:t>
              </a: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537595" y="3924883"/>
              <a:ext cx="3621300" cy="461292"/>
            </a:xfrm>
            <a:prstGeom prst="rect">
              <a:avLst/>
            </a:prstGeom>
            <a:noFill/>
            <a:ln cap="flat" cmpd="sng" w="12700">
              <a:solidFill>
                <a:srgbClr val="BF9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Operation theatre complex</a:t>
              </a:r>
              <a:endParaRPr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2537595" y="4517174"/>
              <a:ext cx="3621300" cy="507238"/>
            </a:xfrm>
            <a:prstGeom prst="rect">
              <a:avLst/>
            </a:prstGeom>
            <a:noFill/>
            <a:ln cap="flat" cmpd="sng" w="12700">
              <a:solidFill>
                <a:srgbClr val="BF9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Inpatient care services</a:t>
              </a: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542433" y="5184581"/>
              <a:ext cx="3616462" cy="646331"/>
            </a:xfrm>
            <a:prstGeom prst="rect">
              <a:avLst/>
            </a:prstGeom>
            <a:noFill/>
            <a:ln cap="flat" cmpd="sng" w="12700">
              <a:solidFill>
                <a:srgbClr val="7B7B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Energy efficient &amp; green buildings </a:t>
              </a: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071653" y="5155487"/>
              <a:ext cx="1408486" cy="1702513"/>
            </a:xfrm>
            <a:prstGeom prst="rect">
              <a:avLst/>
            </a:prstGeom>
            <a:solidFill>
              <a:srgbClr val="5252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New develop-ments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2552109" y="5957215"/>
              <a:ext cx="3616462" cy="900785"/>
            </a:xfrm>
            <a:prstGeom prst="rect">
              <a:avLst/>
            </a:prstGeom>
            <a:noFill/>
            <a:ln cap="flat" cmpd="sng" w="12700">
              <a:solidFill>
                <a:srgbClr val="7B7B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Trends in building construction – technology concepts &amp; practices</a:t>
              </a:r>
              <a:endParaRPr/>
            </a:p>
          </p:txBody>
        </p:sp>
        <p:pic>
          <p:nvPicPr>
            <p:cNvPr descr="Badge 1 with solid fill" id="96" name="Google Shape;9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15672" y="17573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with solid fill" id="97" name="Google Shape;9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1720" y="3016531"/>
              <a:ext cx="908352" cy="908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3 with solid fill" id="98" name="Google Shape;9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15672" y="5200734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"/>
            <p:cNvSpPr/>
            <p:nvPr/>
          </p:nvSpPr>
          <p:spPr>
            <a:xfrm>
              <a:off x="2552109" y="6968730"/>
              <a:ext cx="3616462" cy="547115"/>
            </a:xfrm>
            <a:prstGeom prst="rect">
              <a:avLst/>
            </a:pr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Layout options </a:t>
              </a:r>
              <a:endParaRPr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1081329" y="6939636"/>
              <a:ext cx="1408486" cy="1792990"/>
            </a:xfrm>
            <a:prstGeom prst="rect">
              <a:avLst/>
            </a:prstGeom>
            <a:solidFill>
              <a:srgbClr val="5481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Toolkits</a:t>
              </a:r>
              <a:endParaRPr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2552109" y="7610736"/>
              <a:ext cx="3616462" cy="485680"/>
            </a:xfrm>
            <a:prstGeom prst="rect">
              <a:avLst/>
            </a:pr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Checklists </a:t>
              </a:r>
              <a:endParaRPr/>
            </a:p>
          </p:txBody>
        </p:sp>
        <p:pic>
          <p:nvPicPr>
            <p:cNvPr descr="Badge 4 with solid fill" id="102" name="Google Shape;10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28372" y="7030113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"/>
            <p:cNvSpPr/>
            <p:nvPr/>
          </p:nvSpPr>
          <p:spPr>
            <a:xfrm>
              <a:off x="2552109" y="8169534"/>
              <a:ext cx="3616462" cy="563091"/>
            </a:xfrm>
            <a:prstGeom prst="rect">
              <a:avLst/>
            </a:pr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Case studies (includes interviews</a:t>
              </a:r>
              <a:endParaRPr/>
            </a:p>
          </p:txBody>
        </p:sp>
      </p:grpSp>
      <p:grpSp>
        <p:nvGrpSpPr>
          <p:cNvPr id="104" name="Google Shape;104;p1"/>
          <p:cNvGrpSpPr/>
          <p:nvPr/>
        </p:nvGrpSpPr>
        <p:grpSpPr>
          <a:xfrm>
            <a:off x="6568680" y="1052351"/>
            <a:ext cx="5368051" cy="3615572"/>
            <a:chOff x="6568680" y="1052351"/>
            <a:chExt cx="5368051" cy="3615572"/>
          </a:xfrm>
        </p:grpSpPr>
        <p:sp>
          <p:nvSpPr>
            <p:cNvPr id="105" name="Google Shape;105;p1"/>
            <p:cNvSpPr/>
            <p:nvPr/>
          </p:nvSpPr>
          <p:spPr>
            <a:xfrm>
              <a:off x="6568680" y="1052351"/>
              <a:ext cx="5368051" cy="343394"/>
            </a:xfrm>
            <a:prstGeom prst="rect">
              <a:avLst/>
            </a:prstGeom>
            <a:solidFill>
              <a:srgbClr val="833C0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Navigating the manual </a:t>
              </a:r>
              <a:endParaRPr/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6568680" y="3098263"/>
              <a:ext cx="2685810" cy="15696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Considerations &amp; insights (write-up)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Checklists (view online or download to arrive at space requirements) 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Layout illustrations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9654405" y="2062305"/>
              <a:ext cx="2282326" cy="646331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 toolkit section directly for</a:t>
              </a: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6568680" y="2058173"/>
              <a:ext cx="2685810" cy="646331"/>
            </a:xfrm>
            <a:prstGeom prst="rect">
              <a:avLst/>
            </a:prstGeom>
            <a:solidFill>
              <a:srgbClr val="FBE4D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 a specific section – each consists of: </a:t>
              </a:r>
              <a:endParaRPr/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9654405" y="3098263"/>
              <a:ext cx="2282326" cy="15696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Specific checklists &amp; layout illustrations 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•"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Case studies &amp; interviews (with view option)</a:t>
              </a:r>
              <a:endParaRPr/>
            </a:p>
            <a:p>
              <a:pPr indent="-1841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" name="Google Shape;110;p1"/>
            <p:cNvCxnSpPr/>
            <p:nvPr/>
          </p:nvCxnSpPr>
          <p:spPr>
            <a:xfrm>
              <a:off x="7911585" y="1718911"/>
              <a:ext cx="2883983" cy="0"/>
            </a:xfrm>
            <a:prstGeom prst="straightConnector1">
              <a:avLst/>
            </a:prstGeom>
            <a:noFill/>
            <a:ln cap="flat" cmpd="sng" w="12700">
              <a:solidFill>
                <a:srgbClr val="833C0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1" name="Google Shape;111;p1"/>
            <p:cNvCxnSpPr>
              <a:stCxn id="105" idx="2"/>
            </p:cNvCxnSpPr>
            <p:nvPr/>
          </p:nvCxnSpPr>
          <p:spPr>
            <a:xfrm>
              <a:off x="9252706" y="1395745"/>
              <a:ext cx="1800" cy="323100"/>
            </a:xfrm>
            <a:prstGeom prst="straightConnector1">
              <a:avLst/>
            </a:prstGeom>
            <a:noFill/>
            <a:ln cap="flat" cmpd="sng" w="12700">
              <a:solidFill>
                <a:srgbClr val="833C0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" name="Google Shape;112;p1"/>
            <p:cNvCxnSpPr>
              <a:endCxn id="108" idx="0"/>
            </p:cNvCxnSpPr>
            <p:nvPr/>
          </p:nvCxnSpPr>
          <p:spPr>
            <a:xfrm>
              <a:off x="7911585" y="1718873"/>
              <a:ext cx="0" cy="339300"/>
            </a:xfrm>
            <a:prstGeom prst="straightConnector1">
              <a:avLst/>
            </a:prstGeom>
            <a:noFill/>
            <a:ln cap="flat" cmpd="sng" w="12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3" name="Google Shape;113;p1"/>
            <p:cNvCxnSpPr>
              <a:endCxn id="107" idx="0"/>
            </p:cNvCxnSpPr>
            <p:nvPr/>
          </p:nvCxnSpPr>
          <p:spPr>
            <a:xfrm>
              <a:off x="10795568" y="1718805"/>
              <a:ext cx="0" cy="343500"/>
            </a:xfrm>
            <a:prstGeom prst="straightConnector1">
              <a:avLst/>
            </a:prstGeom>
            <a:noFill/>
            <a:ln cap="flat" cmpd="sng" w="12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4" name="Google Shape;114;p1"/>
            <p:cNvCxnSpPr>
              <a:stCxn id="108" idx="2"/>
            </p:cNvCxnSpPr>
            <p:nvPr/>
          </p:nvCxnSpPr>
          <p:spPr>
            <a:xfrm>
              <a:off x="7911585" y="2704504"/>
              <a:ext cx="300" cy="393900"/>
            </a:xfrm>
            <a:prstGeom prst="straightConnector1">
              <a:avLst/>
            </a:prstGeom>
            <a:noFill/>
            <a:ln cap="flat" cmpd="sng" w="12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5" name="Google Shape;115;p1"/>
            <p:cNvCxnSpPr>
              <a:stCxn id="107" idx="2"/>
              <a:endCxn id="109" idx="0"/>
            </p:cNvCxnSpPr>
            <p:nvPr/>
          </p:nvCxnSpPr>
          <p:spPr>
            <a:xfrm>
              <a:off x="10795568" y="2708636"/>
              <a:ext cx="0" cy="389700"/>
            </a:xfrm>
            <a:prstGeom prst="straightConnector1">
              <a:avLst/>
            </a:prstGeom>
            <a:noFill/>
            <a:ln cap="flat" cmpd="sng" w="12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e2c27f5c_0_1"/>
          <p:cNvSpPr/>
          <p:nvPr/>
        </p:nvSpPr>
        <p:spPr>
          <a:xfrm>
            <a:off x="-50" y="0"/>
            <a:ext cx="3680874" cy="2201100"/>
          </a:xfrm>
          <a:prstGeom prst="rect">
            <a:avLst/>
          </a:prstGeom>
          <a:solidFill>
            <a:srgbClr val="833C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1" name="Google Shape;121;g39ee2c27f5c_0_1"/>
          <p:cNvSpPr/>
          <p:nvPr/>
        </p:nvSpPr>
        <p:spPr>
          <a:xfrm>
            <a:off x="3705925" y="2378277"/>
            <a:ext cx="8486620" cy="6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Outpatient care 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(Clinics, investigation areas &amp; outpatient procedural areas) </a:t>
            </a:r>
            <a:endParaRPr sz="1500"/>
          </a:p>
        </p:txBody>
      </p:sp>
      <p:sp>
        <p:nvSpPr>
          <p:cNvPr id="122" name="Google Shape;122;g39ee2c27f5c_0_1"/>
          <p:cNvSpPr txBox="1"/>
          <p:nvPr/>
        </p:nvSpPr>
        <p:spPr>
          <a:xfrm>
            <a:off x="3705928" y="29513"/>
            <a:ext cx="8486620" cy="155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b="1" lang="en-US" sz="1900">
                <a:solidFill>
                  <a:schemeClr val="dk1"/>
                </a:solidFill>
              </a:rPr>
              <a:t>-level</a:t>
            </a:r>
            <a:r>
              <a:rPr b="1"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considerations </a:t>
            </a:r>
            <a:endParaRPr sz="1500"/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</a:rPr>
              <a:t>patient flow</a:t>
            </a:r>
            <a:endParaRPr sz="1900">
              <a:solidFill>
                <a:schemeClr val="dk1"/>
              </a:solidFill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</a:rPr>
              <a:t>adjacencies </a:t>
            </a:r>
            <a:endParaRPr sz="1500"/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building orientation &amp; lighting </a:t>
            </a:r>
            <a:endParaRPr sz="1500"/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expansion</a:t>
            </a:r>
            <a:endParaRPr sz="1500"/>
          </a:p>
        </p:txBody>
      </p:sp>
      <p:sp>
        <p:nvSpPr>
          <p:cNvPr id="123" name="Google Shape;123;g39ee2c27f5c_0_1"/>
          <p:cNvSpPr txBox="1"/>
          <p:nvPr/>
        </p:nvSpPr>
        <p:spPr>
          <a:xfrm>
            <a:off x="3705925" y="1502350"/>
            <a:ext cx="8486620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considerations for patient &amp; staff safety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9ee2c27f5c_0_1"/>
          <p:cNvSpPr txBox="1"/>
          <p:nvPr/>
        </p:nvSpPr>
        <p:spPr>
          <a:xfrm>
            <a:off x="3705920" y="1831928"/>
            <a:ext cx="3685759" cy="38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Guidelines for support functions  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9ee2c27f5c_0_1"/>
          <p:cNvSpPr/>
          <p:nvPr/>
        </p:nvSpPr>
        <p:spPr>
          <a:xfrm>
            <a:off x="2393" y="2286701"/>
            <a:ext cx="3680874" cy="1793100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ee2c27f5c_0_1"/>
          <p:cNvSpPr/>
          <p:nvPr/>
        </p:nvSpPr>
        <p:spPr>
          <a:xfrm>
            <a:off x="3705920" y="3010313"/>
            <a:ext cx="3685759" cy="4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 theatre complex</a:t>
            </a:r>
            <a:endParaRPr sz="1500"/>
          </a:p>
        </p:txBody>
      </p:sp>
      <p:sp>
        <p:nvSpPr>
          <p:cNvPr id="127" name="Google Shape;127;g39ee2c27f5c_0_1"/>
          <p:cNvSpPr/>
          <p:nvPr/>
        </p:nvSpPr>
        <p:spPr>
          <a:xfrm>
            <a:off x="3705925" y="3460868"/>
            <a:ext cx="848662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Inpatient care services</a:t>
            </a:r>
            <a:endParaRPr sz="1500"/>
          </a:p>
        </p:txBody>
      </p:sp>
      <p:sp>
        <p:nvSpPr>
          <p:cNvPr id="128" name="Google Shape;128;g39ee2c27f5c_0_1"/>
          <p:cNvSpPr/>
          <p:nvPr/>
        </p:nvSpPr>
        <p:spPr>
          <a:xfrm>
            <a:off x="3711589" y="4215979"/>
            <a:ext cx="8475322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Energy efficient &amp; green buildings </a:t>
            </a:r>
            <a:endParaRPr sz="1500"/>
          </a:p>
        </p:txBody>
      </p:sp>
      <p:sp>
        <p:nvSpPr>
          <p:cNvPr id="129" name="Google Shape;129;g39ee2c27f5c_0_1"/>
          <p:cNvSpPr/>
          <p:nvPr/>
        </p:nvSpPr>
        <p:spPr>
          <a:xfrm>
            <a:off x="-50" y="4196675"/>
            <a:ext cx="3685759" cy="129300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9ee2c27f5c_0_1"/>
          <p:cNvSpPr/>
          <p:nvPr/>
        </p:nvSpPr>
        <p:spPr>
          <a:xfrm>
            <a:off x="3699823" y="4643093"/>
            <a:ext cx="8475322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Trends in building construction – technology concepts &amp; practices</a:t>
            </a:r>
            <a:endParaRPr sz="1500"/>
          </a:p>
        </p:txBody>
      </p:sp>
      <p:pic>
        <p:nvPicPr>
          <p:cNvPr descr="Badge 1 with solid fill" id="131" name="Google Shape;131;g39ee2c27f5c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59" y="212024"/>
            <a:ext cx="930676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with solid fill" id="132" name="Google Shape;132;g39ee2c27f5c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6" y="2465100"/>
            <a:ext cx="924521" cy="908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3 with solid fill" id="133" name="Google Shape;133;g39ee2c27f5c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452" y="4320347"/>
            <a:ext cx="930676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9ee2c27f5c_0_1"/>
          <p:cNvSpPr/>
          <p:nvPr/>
        </p:nvSpPr>
        <p:spPr>
          <a:xfrm>
            <a:off x="3694831" y="5600621"/>
            <a:ext cx="8475322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options </a:t>
            </a:r>
            <a:endParaRPr sz="1500"/>
          </a:p>
        </p:txBody>
      </p:sp>
      <p:sp>
        <p:nvSpPr>
          <p:cNvPr id="135" name="Google Shape;135;g39ee2c27f5c_0_1"/>
          <p:cNvSpPr/>
          <p:nvPr/>
        </p:nvSpPr>
        <p:spPr>
          <a:xfrm>
            <a:off x="2393" y="5568522"/>
            <a:ext cx="3680874" cy="1293000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ee2c27f5c_0_1"/>
          <p:cNvSpPr/>
          <p:nvPr/>
        </p:nvSpPr>
        <p:spPr>
          <a:xfrm>
            <a:off x="3674634" y="6073573"/>
            <a:ext cx="8475322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Checklists </a:t>
            </a:r>
            <a:endParaRPr sz="1500"/>
          </a:p>
        </p:txBody>
      </p:sp>
      <p:pic>
        <p:nvPicPr>
          <p:cNvPr descr="Badge 4 with solid fill" id="137" name="Google Shape;137;g39ee2c27f5c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455" y="5649807"/>
            <a:ext cx="930676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9ee2c27f5c_0_1"/>
          <p:cNvSpPr/>
          <p:nvPr/>
        </p:nvSpPr>
        <p:spPr>
          <a:xfrm>
            <a:off x="3691756" y="5554356"/>
            <a:ext cx="7397100" cy="21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Case studies (includes interviews)</a:t>
            </a:r>
            <a:endParaRPr sz="1500"/>
          </a:p>
        </p:txBody>
      </p:sp>
      <p:sp>
        <p:nvSpPr>
          <p:cNvPr id="139" name="Google Shape;139;g39ee2c27f5c_0_1"/>
          <p:cNvSpPr txBox="1"/>
          <p:nvPr/>
        </p:nvSpPr>
        <p:spPr>
          <a:xfrm>
            <a:off x="1064300" y="178781"/>
            <a:ext cx="2443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Considerations that influences overall building design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9ee2c27f5c_0_1"/>
          <p:cNvSpPr txBox="1"/>
          <p:nvPr/>
        </p:nvSpPr>
        <p:spPr>
          <a:xfrm>
            <a:off x="1064300" y="2453506"/>
            <a:ext cx="2443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At functional level – Core clinical units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9ee2c27f5c_0_1"/>
          <p:cNvSpPr txBox="1"/>
          <p:nvPr/>
        </p:nvSpPr>
        <p:spPr>
          <a:xfrm>
            <a:off x="1090516" y="4323194"/>
            <a:ext cx="244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New developments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9ee2c27f5c_0_1"/>
          <p:cNvSpPr txBox="1"/>
          <p:nvPr/>
        </p:nvSpPr>
        <p:spPr>
          <a:xfrm>
            <a:off x="1240550" y="5739369"/>
            <a:ext cx="197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Toolkits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9ee2c27f5c_0_36"/>
          <p:cNvGrpSpPr/>
          <p:nvPr/>
        </p:nvGrpSpPr>
        <p:grpSpPr>
          <a:xfrm>
            <a:off x="252" y="14"/>
            <a:ext cx="12192256" cy="6899763"/>
            <a:chOff x="6568680" y="1052351"/>
            <a:chExt cx="5368200" cy="3791912"/>
          </a:xfrm>
        </p:grpSpPr>
        <p:sp>
          <p:nvSpPr>
            <p:cNvPr id="148" name="Google Shape;148;g39ee2c27f5c_0_36"/>
            <p:cNvSpPr/>
            <p:nvPr/>
          </p:nvSpPr>
          <p:spPr>
            <a:xfrm>
              <a:off x="6568680" y="1052351"/>
              <a:ext cx="5368200" cy="343500"/>
            </a:xfrm>
            <a:prstGeom prst="rect">
              <a:avLst/>
            </a:prstGeom>
            <a:solidFill>
              <a:srgbClr val="833C0B"/>
            </a:solidFill>
            <a:ln>
              <a:noFill/>
            </a:ln>
          </p:spPr>
          <p:txBody>
            <a:bodyPr anchorCtr="0" anchor="ctr" bIns="92500" lIns="185000" spcFirstLastPara="1" rIns="185000" wrap="square" tIns="925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42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Navigating the manual </a:t>
              </a:r>
              <a:endParaRPr sz="2833"/>
            </a:p>
          </p:txBody>
        </p:sp>
        <p:sp>
          <p:nvSpPr>
            <p:cNvPr id="149" name="Google Shape;149;g39ee2c27f5c_0_36"/>
            <p:cNvSpPr txBox="1"/>
            <p:nvPr/>
          </p:nvSpPr>
          <p:spPr>
            <a:xfrm>
              <a:off x="6568680" y="3098263"/>
              <a:ext cx="2685900" cy="174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02799" rotWithShape="0" algn="tl" dir="2700000" dist="77099">
                <a:srgbClr val="000000">
                  <a:alpha val="40000"/>
                </a:srgbClr>
              </a:outerShdw>
            </a:effectLst>
          </p:spPr>
          <p:txBody>
            <a:bodyPr anchorCtr="0" anchor="t" bIns="92500" lIns="185000" spcFirstLastPara="1" rIns="185000" wrap="square" tIns="92500">
              <a:spAutoFit/>
            </a:bodyPr>
            <a:lstStyle/>
            <a:p>
              <a:pPr indent="-578241" lvl="0" marL="578241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38"/>
                <a:buFont typeface="Arial"/>
                <a:buChar char="•"/>
              </a:pPr>
              <a:r>
                <a:rPr lang="en-US" sz="3237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Considerations &amp; insights (write-up)</a:t>
              </a:r>
              <a:endParaRPr sz="2833"/>
            </a:p>
            <a:p>
              <a:pPr indent="-578241" lvl="0" marL="578241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38"/>
                <a:buFont typeface="Arial"/>
                <a:buChar char="•"/>
              </a:pPr>
              <a:r>
                <a:rPr lang="en-US" sz="3237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Checklists (view online or download to arrive at space requirements) </a:t>
              </a:r>
              <a:endParaRPr sz="2833"/>
            </a:p>
            <a:p>
              <a:pPr indent="-578241" lvl="0" marL="578241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38"/>
                <a:buFont typeface="Arial"/>
                <a:buChar char="•"/>
              </a:pPr>
              <a:r>
                <a:rPr lang="en-US" sz="3237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Layout illustrations</a:t>
              </a:r>
              <a:endParaRPr sz="2833"/>
            </a:p>
          </p:txBody>
        </p:sp>
        <p:sp>
          <p:nvSpPr>
            <p:cNvPr id="150" name="Google Shape;150;g39ee2c27f5c_0_36"/>
            <p:cNvSpPr txBox="1"/>
            <p:nvPr/>
          </p:nvSpPr>
          <p:spPr>
            <a:xfrm>
              <a:off x="9654405" y="2062305"/>
              <a:ext cx="2282400" cy="7188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t" bIns="92500" lIns="185000" spcFirstLastPara="1" rIns="185000" wrap="square" tIns="925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2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 toolkit section directly for</a:t>
              </a:r>
              <a:endParaRPr sz="2833"/>
            </a:p>
          </p:txBody>
        </p:sp>
        <p:sp>
          <p:nvSpPr>
            <p:cNvPr id="151" name="Google Shape;151;g39ee2c27f5c_0_36"/>
            <p:cNvSpPr txBox="1"/>
            <p:nvPr/>
          </p:nvSpPr>
          <p:spPr>
            <a:xfrm>
              <a:off x="6568680" y="2058173"/>
              <a:ext cx="2685900" cy="718800"/>
            </a:xfrm>
            <a:prstGeom prst="rect">
              <a:avLst/>
            </a:prstGeom>
            <a:solidFill>
              <a:srgbClr val="FBE4D4"/>
            </a:solidFill>
            <a:ln>
              <a:noFill/>
            </a:ln>
          </p:spPr>
          <p:txBody>
            <a:bodyPr anchorCtr="0" anchor="t" bIns="92500" lIns="185000" spcFirstLastPara="1" rIns="185000" wrap="square" tIns="925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42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 a specific section</a:t>
              </a:r>
              <a:r>
                <a:rPr lang="en-US" sz="3642">
                  <a:solidFill>
                    <a:schemeClr val="dk1"/>
                  </a:solidFill>
                </a:rPr>
                <a:t>—each</a:t>
              </a:r>
              <a:r>
                <a:rPr lang="en-US" sz="3642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consists of: </a:t>
              </a:r>
              <a:endParaRPr sz="2833"/>
            </a:p>
          </p:txBody>
        </p:sp>
        <p:sp>
          <p:nvSpPr>
            <p:cNvPr id="152" name="Google Shape;152;g39ee2c27f5c_0_36"/>
            <p:cNvSpPr txBox="1"/>
            <p:nvPr/>
          </p:nvSpPr>
          <p:spPr>
            <a:xfrm>
              <a:off x="9654405" y="3098263"/>
              <a:ext cx="2282400" cy="174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102799" rotWithShape="0" algn="tl" dir="2700000" dist="77099">
                <a:srgbClr val="000000">
                  <a:alpha val="40000"/>
                </a:srgbClr>
              </a:outerShdw>
            </a:effectLst>
          </p:spPr>
          <p:txBody>
            <a:bodyPr anchorCtr="0" anchor="t" bIns="92500" lIns="185000" spcFirstLastPara="1" rIns="185000" wrap="square" tIns="92500">
              <a:spAutoFit/>
            </a:bodyPr>
            <a:lstStyle/>
            <a:p>
              <a:pPr indent="-578241" lvl="0" marL="578241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38"/>
                <a:buFont typeface="Arial"/>
                <a:buChar char="•"/>
              </a:pPr>
              <a:r>
                <a:rPr lang="en-US" sz="3237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Specific checklists &amp; layout illustrations </a:t>
              </a:r>
              <a:endParaRPr sz="2833"/>
            </a:p>
            <a:p>
              <a:pPr indent="-578241" lvl="0" marL="578241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38"/>
                <a:buFont typeface="Arial"/>
                <a:buChar char="•"/>
              </a:pPr>
              <a:r>
                <a:rPr lang="en-US" sz="3237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Case studies &amp; interviews (with view option)</a:t>
              </a:r>
              <a:endParaRPr sz="2833"/>
            </a:p>
            <a:p>
              <a:pPr indent="-372644" lvl="0" marL="578241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38"/>
                <a:buFont typeface="Arial"/>
                <a:buNone/>
              </a:pPr>
              <a:r>
                <a:t/>
              </a:r>
              <a:endParaRPr sz="323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" name="Google Shape;153;g39ee2c27f5c_0_36"/>
            <p:cNvCxnSpPr/>
            <p:nvPr/>
          </p:nvCxnSpPr>
          <p:spPr>
            <a:xfrm>
              <a:off x="7911585" y="1718911"/>
              <a:ext cx="2883900" cy="0"/>
            </a:xfrm>
            <a:prstGeom prst="straightConnector1">
              <a:avLst/>
            </a:prstGeom>
            <a:noFill/>
            <a:ln cap="flat" cmpd="sng" w="25700">
              <a:solidFill>
                <a:srgbClr val="833C0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4" name="Google Shape;154;g39ee2c27f5c_0_36"/>
            <p:cNvCxnSpPr>
              <a:stCxn id="148" idx="2"/>
            </p:cNvCxnSpPr>
            <p:nvPr/>
          </p:nvCxnSpPr>
          <p:spPr>
            <a:xfrm>
              <a:off x="9252780" y="1395851"/>
              <a:ext cx="1800" cy="323100"/>
            </a:xfrm>
            <a:prstGeom prst="straightConnector1">
              <a:avLst/>
            </a:prstGeom>
            <a:noFill/>
            <a:ln cap="flat" cmpd="sng" w="25700">
              <a:solidFill>
                <a:srgbClr val="833C0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" name="Google Shape;155;g39ee2c27f5c_0_36"/>
            <p:cNvCxnSpPr>
              <a:endCxn id="151" idx="0"/>
            </p:cNvCxnSpPr>
            <p:nvPr/>
          </p:nvCxnSpPr>
          <p:spPr>
            <a:xfrm>
              <a:off x="7911630" y="1718873"/>
              <a:ext cx="0" cy="339300"/>
            </a:xfrm>
            <a:prstGeom prst="straightConnector1">
              <a:avLst/>
            </a:prstGeom>
            <a:noFill/>
            <a:ln cap="flat" cmpd="sng" w="25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56" name="Google Shape;156;g39ee2c27f5c_0_36"/>
            <p:cNvCxnSpPr>
              <a:endCxn id="150" idx="0"/>
            </p:cNvCxnSpPr>
            <p:nvPr/>
          </p:nvCxnSpPr>
          <p:spPr>
            <a:xfrm>
              <a:off x="10795605" y="1718805"/>
              <a:ext cx="0" cy="343500"/>
            </a:xfrm>
            <a:prstGeom prst="straightConnector1">
              <a:avLst/>
            </a:prstGeom>
            <a:noFill/>
            <a:ln cap="flat" cmpd="sng" w="25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57" name="Google Shape;157;g39ee2c27f5c_0_36"/>
            <p:cNvCxnSpPr>
              <a:stCxn id="151" idx="2"/>
              <a:endCxn id="149" idx="0"/>
            </p:cNvCxnSpPr>
            <p:nvPr/>
          </p:nvCxnSpPr>
          <p:spPr>
            <a:xfrm>
              <a:off x="7911630" y="2776973"/>
              <a:ext cx="0" cy="321300"/>
            </a:xfrm>
            <a:prstGeom prst="straightConnector1">
              <a:avLst/>
            </a:prstGeom>
            <a:noFill/>
            <a:ln cap="flat" cmpd="sng" w="25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58" name="Google Shape;158;g39ee2c27f5c_0_36"/>
            <p:cNvCxnSpPr>
              <a:stCxn id="150" idx="2"/>
              <a:endCxn id="152" idx="0"/>
            </p:cNvCxnSpPr>
            <p:nvPr/>
          </p:nvCxnSpPr>
          <p:spPr>
            <a:xfrm>
              <a:off x="10795605" y="2781105"/>
              <a:ext cx="0" cy="317100"/>
            </a:xfrm>
            <a:prstGeom prst="straightConnector1">
              <a:avLst/>
            </a:prstGeom>
            <a:noFill/>
            <a:ln cap="flat" cmpd="sng" w="25700">
              <a:solidFill>
                <a:srgbClr val="833C0B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"/>
          <p:cNvGrpSpPr/>
          <p:nvPr/>
        </p:nvGrpSpPr>
        <p:grpSpPr>
          <a:xfrm>
            <a:off x="1148381" y="3589694"/>
            <a:ext cx="8937129" cy="3347491"/>
            <a:chOff x="8656093" y="171356"/>
            <a:chExt cx="7984570" cy="2990700"/>
          </a:xfrm>
        </p:grpSpPr>
        <p:sp>
          <p:nvSpPr>
            <p:cNvPr id="164" name="Google Shape;164;p2"/>
            <p:cNvSpPr/>
            <p:nvPr/>
          </p:nvSpPr>
          <p:spPr>
            <a:xfrm>
              <a:off x="10167706" y="176094"/>
              <a:ext cx="2275200" cy="13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Energy efficient &amp; green buildings </a:t>
              </a:r>
              <a:endParaRPr sz="2200"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8656093" y="171356"/>
              <a:ext cx="1408500" cy="2990700"/>
            </a:xfrm>
            <a:prstGeom prst="rect">
              <a:avLst/>
            </a:prstGeom>
            <a:solidFill>
              <a:srgbClr val="525252"/>
            </a:solidFill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14">
                  <a:solidFill>
                    <a:schemeClr val="lt1"/>
                  </a:solidFill>
                </a:rPr>
                <a:t>Leveraging n</a:t>
              </a:r>
              <a:r>
                <a:rPr b="1" lang="en-US" sz="2014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ew </a:t>
              </a:r>
              <a:r>
                <a:rPr b="1" lang="en-US" sz="2014">
                  <a:solidFill>
                    <a:schemeClr val="lt1"/>
                  </a:solidFill>
                </a:rPr>
                <a:t>advances in building</a:t>
              </a:r>
              <a:endParaRPr b="1" sz="20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185067" y="1383078"/>
              <a:ext cx="2275200" cy="14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Trends in building construction – technology concepts &amp; practices</a:t>
              </a:r>
              <a:endParaRPr sz="2200"/>
            </a:p>
          </p:txBody>
        </p:sp>
        <p:pic>
          <p:nvPicPr>
            <p:cNvPr descr="Badge 3 with solid fill" id="167" name="Google Shape;16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03136" y="244385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"/>
            <p:cNvSpPr/>
            <p:nvPr/>
          </p:nvSpPr>
          <p:spPr>
            <a:xfrm>
              <a:off x="14572932" y="216603"/>
              <a:ext cx="2008200" cy="8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3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Layout options </a:t>
              </a:r>
              <a:endParaRPr sz="1567"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2948367" y="202510"/>
              <a:ext cx="1408500" cy="2928600"/>
            </a:xfrm>
            <a:prstGeom prst="rect">
              <a:avLst/>
            </a:prstGeom>
            <a:solidFill>
              <a:srgbClr val="548135"/>
            </a:solidFill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Toolkits</a:t>
              </a:r>
              <a:endParaRPr sz="2000"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4612619" y="1032828"/>
              <a:ext cx="2008200" cy="7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3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Checklists </a:t>
              </a:r>
              <a:endParaRPr sz="1567"/>
            </a:p>
          </p:txBody>
        </p:sp>
        <p:pic>
          <p:nvPicPr>
            <p:cNvPr descr="Badge 4 with solid fill" id="171" name="Google Shape;171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220088" y="31530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"/>
            <p:cNvSpPr/>
            <p:nvPr/>
          </p:nvSpPr>
          <p:spPr>
            <a:xfrm>
              <a:off x="14632463" y="1886099"/>
              <a:ext cx="2008200" cy="103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3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Case studies, interview &amp; references</a:t>
              </a:r>
              <a:endParaRPr sz="1567"/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1148320" y="0"/>
            <a:ext cx="10003887" cy="3562831"/>
            <a:chOff x="133957" y="98785"/>
            <a:chExt cx="8937628" cy="3183088"/>
          </a:xfrm>
        </p:grpSpPr>
        <p:sp>
          <p:nvSpPr>
            <p:cNvPr id="174" name="Google Shape;174;p2"/>
            <p:cNvSpPr/>
            <p:nvPr/>
          </p:nvSpPr>
          <p:spPr>
            <a:xfrm>
              <a:off x="133957" y="98785"/>
              <a:ext cx="1408500" cy="3017100"/>
            </a:xfrm>
            <a:prstGeom prst="rect">
              <a:avLst/>
            </a:prstGeom>
            <a:solidFill>
              <a:srgbClr val="833C0B"/>
            </a:solidFill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238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</a:rPr>
                <a:t>Factor</a:t>
              </a: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 that influence overall building design</a:t>
              </a:r>
              <a:r>
                <a:rPr b="1" lang="en-US" sz="2238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567"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980985" y="171352"/>
              <a:ext cx="3090600" cy="12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Outpatient care </a:t>
              </a:r>
              <a:endParaRPr sz="2200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(Clinics, investigation areas &amp; outpatient procedural areas) </a:t>
              </a:r>
              <a:endParaRPr sz="2200"/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1609571" y="125207"/>
              <a:ext cx="2694300" cy="221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51150" lIns="102325" spcFirstLastPara="1" rIns="102325" wrap="square" tIns="511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r>
                <a:rPr b="1" lang="en-US" sz="2200">
                  <a:solidFill>
                    <a:schemeClr val="dk1"/>
                  </a:solidFill>
                </a:rPr>
                <a:t>-level</a:t>
              </a:r>
              <a:r>
                <a:rPr b="1"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considerations </a:t>
              </a:r>
              <a:endParaRPr sz="2200"/>
            </a:p>
            <a:p>
              <a:pPr indent="-395570" lvl="0" marL="383805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•"/>
              </a:pPr>
              <a:r>
                <a:rPr lang="en-US" sz="2200">
                  <a:solidFill>
                    <a:schemeClr val="dk1"/>
                  </a:solidFill>
                </a:rPr>
                <a:t>patient flow</a:t>
              </a:r>
              <a:endParaRPr sz="2200">
                <a:solidFill>
                  <a:schemeClr val="dk1"/>
                </a:solidFill>
              </a:endParaRPr>
            </a:p>
            <a:p>
              <a:pPr indent="-395570" lvl="0" marL="383805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Char char="•"/>
              </a:pPr>
              <a:r>
                <a:rPr lang="en-US" sz="2200">
                  <a:solidFill>
                    <a:schemeClr val="dk1"/>
                  </a:solidFill>
                </a:rPr>
                <a:t>adjacencies </a:t>
              </a:r>
              <a:endParaRPr sz="2200"/>
            </a:p>
            <a:p>
              <a:pPr indent="-409785" lvl="0" marL="38380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building orientation &amp; lighting </a:t>
              </a:r>
              <a:endParaRPr sz="2200"/>
            </a:p>
            <a:p>
              <a:pPr indent="-409785" lvl="0" marL="38380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Char char="•"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future expansion</a:t>
              </a:r>
              <a:endParaRPr sz="2200"/>
            </a:p>
          </p:txBody>
        </p:sp>
        <p:sp>
          <p:nvSpPr>
            <p:cNvPr id="177" name="Google Shape;177;p2"/>
            <p:cNvSpPr txBox="1"/>
            <p:nvPr/>
          </p:nvSpPr>
          <p:spPr>
            <a:xfrm>
              <a:off x="1609576" y="1979667"/>
              <a:ext cx="2694300" cy="69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51150" lIns="102325" spcFirstLastPara="1" rIns="102325" wrap="square" tIns="511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Key considerations for patient &amp; staff safety</a:t>
              </a:r>
              <a:endPara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"/>
            <p:cNvSpPr txBox="1"/>
            <p:nvPr/>
          </p:nvSpPr>
          <p:spPr>
            <a:xfrm>
              <a:off x="1609575" y="2584373"/>
              <a:ext cx="2694300" cy="697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51150" lIns="102325" spcFirstLastPara="1" rIns="102325" wrap="square" tIns="511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Guidelines for support functions  </a:t>
              </a:r>
              <a:endParaRPr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464734" y="125199"/>
              <a:ext cx="1408500" cy="2990700"/>
            </a:xfrm>
            <a:prstGeom prst="rect">
              <a:avLst/>
            </a:prstGeom>
            <a:solidFill>
              <a:srgbClr val="7F6000"/>
            </a:solidFill>
            <a:ln>
              <a:noFill/>
            </a:ln>
          </p:spPr>
          <p:txBody>
            <a:bodyPr anchorCtr="0" anchor="ctr" bIns="51150" lIns="51150" spcFirstLastPara="1" rIns="51150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14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567"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014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At functional level – Core clinical units </a:t>
              </a:r>
              <a:endParaRPr sz="2000"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5980992" y="1512313"/>
              <a:ext cx="2518800" cy="7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Operation theatre complex</a:t>
              </a:r>
              <a:endParaRPr sz="2200"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5980992" y="2389524"/>
              <a:ext cx="2518800" cy="7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150" lIns="102325" spcFirstLastPara="1" rIns="102325" wrap="square" tIns="5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Inpatient care services</a:t>
              </a:r>
              <a:endParaRPr sz="2200"/>
            </a:p>
          </p:txBody>
        </p:sp>
        <p:pic>
          <p:nvPicPr>
            <p:cNvPr descr="Badge 1 with solid fill" id="182" name="Google Shape;182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7652" y="171357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with solid fill" id="183" name="Google Shape;183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14801" y="184584"/>
              <a:ext cx="908352" cy="9083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2021-06-26T02:00:55Z</dcterms:created>
  <dc:creator>Sasipriya</dc:creator>
</cp:coreProperties>
</file>