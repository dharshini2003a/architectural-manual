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97" r:id="rId2"/>
    <p:sldId id="303" r:id="rId3"/>
    <p:sldId id="304" r:id="rId4"/>
    <p:sldId id="300" r:id="rId5"/>
    <p:sldId id="301" r:id="rId6"/>
    <p:sldId id="298" r:id="rId7"/>
    <p:sldId id="299" r:id="rId8"/>
    <p:sldId id="302" r:id="rId9"/>
    <p:sldId id="29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D996"/>
    <a:srgbClr val="E9AFC7"/>
    <a:srgbClr val="A3CEE6"/>
    <a:srgbClr val="FCC28D"/>
    <a:srgbClr val="FF0000"/>
    <a:srgbClr val="D67F00"/>
    <a:srgbClr val="D07C00"/>
    <a:srgbClr val="FF9900"/>
    <a:srgbClr val="FF8F1F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4B7B-0057-4D81-8B6C-5679B5C5EA65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009F-A52D-4161-96F4-D8F170F75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08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4B7B-0057-4D81-8B6C-5679B5C5EA65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009F-A52D-4161-96F4-D8F170F75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189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4B7B-0057-4D81-8B6C-5679B5C5EA65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009F-A52D-4161-96F4-D8F170F75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62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4B7B-0057-4D81-8B6C-5679B5C5EA65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009F-A52D-4161-96F4-D8F170F75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07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4B7B-0057-4D81-8B6C-5679B5C5EA65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009F-A52D-4161-96F4-D8F170F75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277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4B7B-0057-4D81-8B6C-5679B5C5EA65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009F-A52D-4161-96F4-D8F170F75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10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4B7B-0057-4D81-8B6C-5679B5C5EA65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009F-A52D-4161-96F4-D8F170F75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966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4B7B-0057-4D81-8B6C-5679B5C5EA65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009F-A52D-4161-96F4-D8F170F75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645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4B7B-0057-4D81-8B6C-5679B5C5EA65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009F-A52D-4161-96F4-D8F170F75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023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4B7B-0057-4D81-8B6C-5679B5C5EA65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009F-A52D-4161-96F4-D8F170F75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245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4B7B-0057-4D81-8B6C-5679B5C5EA65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009F-A52D-4161-96F4-D8F170F75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26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C4B7B-0057-4D81-8B6C-5679B5C5EA65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B009F-A52D-4161-96F4-D8F170F75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709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8242257-D8FA-4140-AB23-9C0C70A46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411" y="1887674"/>
            <a:ext cx="10862481" cy="1784203"/>
          </a:xfrm>
        </p:spPr>
        <p:txBody>
          <a:bodyPr>
            <a:noAutofit/>
          </a:bodyPr>
          <a:lstStyle/>
          <a:p>
            <a:pPr algn="ctr"/>
            <a:r>
              <a:rPr lang="en-IN" sz="6000" dirty="0">
                <a:latin typeface="Abadi" panose="020B0604020104020204" pitchFamily="34" charset="0"/>
              </a:rPr>
              <a:t>Operation Theatre Complex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0B74B-2A80-4ED8-97E1-DD74D09A24FA}"/>
              </a:ext>
            </a:extLst>
          </p:cNvPr>
          <p:cNvSpPr txBox="1"/>
          <p:nvPr/>
        </p:nvSpPr>
        <p:spPr>
          <a:xfrm>
            <a:off x="1780032" y="2779776"/>
            <a:ext cx="7924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4400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400" dirty="0">
                <a:latin typeface="Abadi" panose="020B0604020104020204" pitchFamily="34" charset="0"/>
              </a:rPr>
              <a:t>Zoning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400" dirty="0" err="1">
                <a:latin typeface="Abadi" panose="020B0604020104020204" pitchFamily="34" charset="0"/>
              </a:rPr>
              <a:t>Planing</a:t>
            </a:r>
            <a:r>
              <a:rPr lang="en-IN" sz="4400" dirty="0">
                <a:latin typeface="Abadi" panose="020B0604020104020204" pitchFamily="34" charset="0"/>
              </a:rPr>
              <a:t> considerations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400" dirty="0">
                <a:latin typeface="Abadi" panose="020B0604020104020204" pitchFamily="34" charset="0"/>
              </a:rPr>
              <a:t>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4400" dirty="0">
              <a:latin typeface="Abadi" panose="020B0604020104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C24C7E-E94A-4D26-A771-421229E0B1C6}"/>
              </a:ext>
            </a:extLst>
          </p:cNvPr>
          <p:cNvCxnSpPr>
            <a:cxnSpLocks/>
          </p:cNvCxnSpPr>
          <p:nvPr/>
        </p:nvCxnSpPr>
        <p:spPr>
          <a:xfrm>
            <a:off x="12192" y="3416924"/>
            <a:ext cx="12167616" cy="24152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09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23784D3-6F38-4B57-A69D-B3405F72F6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237531"/>
              </p:ext>
            </p:extLst>
          </p:nvPr>
        </p:nvGraphicFramePr>
        <p:xfrm>
          <a:off x="2488517" y="0"/>
          <a:ext cx="9703480" cy="6863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32098961" imgH="22707286" progId="AcroExch.Document.DC">
                  <p:embed/>
                </p:oleObj>
              </mc:Choice>
              <mc:Fallback>
                <p:oleObj name="Acrobat Document" r:id="rId2" imgW="32098961" imgH="22707286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88517" y="0"/>
                        <a:ext cx="9703480" cy="6863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FEE7881C-14F6-4C23-9580-2F49A3DD4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21560" y="-1662684"/>
            <a:ext cx="10515600" cy="3986784"/>
          </a:xfrm>
        </p:spPr>
        <p:txBody>
          <a:bodyPr>
            <a:noAutofit/>
          </a:bodyPr>
          <a:lstStyle/>
          <a:p>
            <a:pPr algn="ctr"/>
            <a:r>
              <a:rPr lang="en-IN" dirty="0"/>
              <a:t>ZONING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F0079D-F979-4AFC-990E-908A631559EB}"/>
              </a:ext>
            </a:extLst>
          </p:cNvPr>
          <p:cNvSpPr/>
          <p:nvPr/>
        </p:nvSpPr>
        <p:spPr>
          <a:xfrm>
            <a:off x="695324" y="1266825"/>
            <a:ext cx="1438275" cy="3305175"/>
          </a:xfrm>
          <a:prstGeom prst="rect">
            <a:avLst/>
          </a:prstGeom>
          <a:solidFill>
            <a:srgbClr val="E9AFC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767E12-0BE5-44C2-BB41-EDEABC26A457}"/>
              </a:ext>
            </a:extLst>
          </p:cNvPr>
          <p:cNvSpPr/>
          <p:nvPr/>
        </p:nvSpPr>
        <p:spPr>
          <a:xfrm>
            <a:off x="2133599" y="1266825"/>
            <a:ext cx="1438275" cy="3305175"/>
          </a:xfrm>
          <a:prstGeom prst="rect">
            <a:avLst/>
          </a:prstGeom>
          <a:solidFill>
            <a:srgbClr val="FCC28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C6E607-9DAE-448A-A4DC-3967291B5548}"/>
              </a:ext>
            </a:extLst>
          </p:cNvPr>
          <p:cNvSpPr/>
          <p:nvPr/>
        </p:nvSpPr>
        <p:spPr>
          <a:xfrm>
            <a:off x="3571874" y="1266825"/>
            <a:ext cx="1438275" cy="3305175"/>
          </a:xfrm>
          <a:prstGeom prst="rect">
            <a:avLst/>
          </a:prstGeom>
          <a:solidFill>
            <a:srgbClr val="A3CEE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D6D5E6E-10AE-44DD-BF2F-36E99646F180}"/>
              </a:ext>
            </a:extLst>
          </p:cNvPr>
          <p:cNvSpPr/>
          <p:nvPr/>
        </p:nvSpPr>
        <p:spPr>
          <a:xfrm>
            <a:off x="0" y="2354633"/>
            <a:ext cx="690562" cy="712417"/>
          </a:xfrm>
          <a:prstGeom prst="rightArrow">
            <a:avLst>
              <a:gd name="adj1" fmla="val 50000"/>
              <a:gd name="adj2" fmla="val 52674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A0C30A7-9874-4531-BC44-33690820CECD}"/>
              </a:ext>
            </a:extLst>
          </p:cNvPr>
          <p:cNvSpPr/>
          <p:nvPr/>
        </p:nvSpPr>
        <p:spPr>
          <a:xfrm>
            <a:off x="704850" y="2354633"/>
            <a:ext cx="1423987" cy="712417"/>
          </a:xfrm>
          <a:prstGeom prst="rightArrow">
            <a:avLst>
              <a:gd name="adj1" fmla="val 50000"/>
              <a:gd name="adj2" fmla="val 52674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37B7149-D139-403E-A25D-8102863D145B}"/>
              </a:ext>
            </a:extLst>
          </p:cNvPr>
          <p:cNvSpPr/>
          <p:nvPr/>
        </p:nvSpPr>
        <p:spPr>
          <a:xfrm>
            <a:off x="2143125" y="2354633"/>
            <a:ext cx="1423987" cy="712417"/>
          </a:xfrm>
          <a:prstGeom prst="rightArrow">
            <a:avLst>
              <a:gd name="adj1" fmla="val 50000"/>
              <a:gd name="adj2" fmla="val 52674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97849D6-9418-4B4D-A16D-D1D31E94F924}"/>
              </a:ext>
            </a:extLst>
          </p:cNvPr>
          <p:cNvSpPr/>
          <p:nvPr/>
        </p:nvSpPr>
        <p:spPr>
          <a:xfrm>
            <a:off x="3581400" y="2354633"/>
            <a:ext cx="1423987" cy="712417"/>
          </a:xfrm>
          <a:prstGeom prst="rightArrow">
            <a:avLst>
              <a:gd name="adj1" fmla="val 50000"/>
              <a:gd name="adj2" fmla="val 52674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AF7C13-BCE6-41B5-960E-F0393E82ED27}"/>
              </a:ext>
            </a:extLst>
          </p:cNvPr>
          <p:cNvSpPr txBox="1"/>
          <p:nvPr/>
        </p:nvSpPr>
        <p:spPr>
          <a:xfrm>
            <a:off x="695325" y="638175"/>
            <a:ext cx="4324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CLEANLINESS PROGRESSION</a:t>
            </a:r>
          </a:p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+                         ++                       +++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A1FA4B-4E28-49D8-93C3-4E4061944161}"/>
              </a:ext>
            </a:extLst>
          </p:cNvPr>
          <p:cNvSpPr txBox="1"/>
          <p:nvPr/>
        </p:nvSpPr>
        <p:spPr>
          <a:xfrm>
            <a:off x="-771525" y="1447800"/>
            <a:ext cx="4324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SEMI</a:t>
            </a:r>
          </a:p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 RESTRICTED</a:t>
            </a:r>
          </a:p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ZONE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7DC315-68FF-4FE3-A9A8-E9E1559AD03A}"/>
              </a:ext>
            </a:extLst>
          </p:cNvPr>
          <p:cNvSpPr txBox="1"/>
          <p:nvPr/>
        </p:nvSpPr>
        <p:spPr>
          <a:xfrm>
            <a:off x="685800" y="1447800"/>
            <a:ext cx="4324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RESTRICTED</a:t>
            </a:r>
          </a:p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ZONE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2D340B-1159-47B8-9BD3-A4B34A055986}"/>
              </a:ext>
            </a:extLst>
          </p:cNvPr>
          <p:cNvSpPr txBox="1"/>
          <p:nvPr/>
        </p:nvSpPr>
        <p:spPr>
          <a:xfrm>
            <a:off x="2133600" y="1428750"/>
            <a:ext cx="4324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STERILE</a:t>
            </a:r>
          </a:p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ZONE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FBC307-1A93-47D6-8877-48A2260D2CF5}"/>
              </a:ext>
            </a:extLst>
          </p:cNvPr>
          <p:cNvSpPr txBox="1"/>
          <p:nvPr/>
        </p:nvSpPr>
        <p:spPr>
          <a:xfrm>
            <a:off x="685800" y="3219450"/>
            <a:ext cx="1762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2">
                    <a:lumMod val="50000"/>
                  </a:schemeClr>
                </a:solidFill>
              </a:rPr>
              <a:t>CSSD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2">
                    <a:lumMod val="50000"/>
                  </a:schemeClr>
                </a:solidFill>
              </a:rPr>
              <a:t>STAFF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2">
                    <a:lumMod val="50000"/>
                  </a:schemeClr>
                </a:solidFill>
              </a:rPr>
              <a:t>PATIENT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2">
                    <a:lumMod val="50000"/>
                  </a:schemeClr>
                </a:solidFill>
              </a:rPr>
              <a:t>ESSENTIAL RESTROOM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E01151-62C8-4524-838A-90031D5047EE}"/>
              </a:ext>
            </a:extLst>
          </p:cNvPr>
          <p:cNvSpPr txBox="1"/>
          <p:nvPr/>
        </p:nvSpPr>
        <p:spPr>
          <a:xfrm>
            <a:off x="2152650" y="3219450"/>
            <a:ext cx="17621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2">
                    <a:lumMod val="50000"/>
                  </a:schemeClr>
                </a:solidFill>
              </a:rPr>
              <a:t>SCRUB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2">
                    <a:lumMod val="50000"/>
                  </a:schemeClr>
                </a:solidFill>
              </a:rPr>
              <a:t>OT CORRIDOR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2">
                    <a:lumMod val="50000"/>
                  </a:schemeClr>
                </a:solidFill>
              </a:rPr>
              <a:t>OT STORES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E3F2F-313D-46E7-822E-3377F0FC06FA}"/>
              </a:ext>
            </a:extLst>
          </p:cNvPr>
          <p:cNvSpPr txBox="1"/>
          <p:nvPr/>
        </p:nvSpPr>
        <p:spPr>
          <a:xfrm>
            <a:off x="3562350" y="3219450"/>
            <a:ext cx="1762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2">
                    <a:lumMod val="50000"/>
                  </a:schemeClr>
                </a:solidFill>
              </a:rPr>
              <a:t>THEATRES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2">
                    <a:lumMod val="50000"/>
                  </a:schemeClr>
                </a:solidFill>
              </a:rPr>
              <a:t>STERILE STORE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074317-F8F1-4E75-855A-4588E8EAA56D}"/>
              </a:ext>
            </a:extLst>
          </p:cNvPr>
          <p:cNvSpPr/>
          <p:nvPr/>
        </p:nvSpPr>
        <p:spPr>
          <a:xfrm>
            <a:off x="8636000" y="4851400"/>
            <a:ext cx="409575" cy="114300"/>
          </a:xfrm>
          <a:prstGeom prst="rect">
            <a:avLst/>
          </a:prstGeom>
          <a:solidFill>
            <a:srgbClr val="E9AFC7"/>
          </a:solidFill>
          <a:ln>
            <a:solidFill>
              <a:srgbClr val="E9AF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94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848D8A0-5D70-45A1-B32C-A30DE28CA3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815429"/>
              </p:ext>
            </p:extLst>
          </p:nvPr>
        </p:nvGraphicFramePr>
        <p:xfrm>
          <a:off x="2320989" y="0"/>
          <a:ext cx="969524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32098961" imgH="22707286" progId="AcroExch.Document.DC">
                  <p:embed/>
                </p:oleObj>
              </mc:Choice>
              <mc:Fallback>
                <p:oleObj name="Acrobat Document" r:id="rId2" imgW="32098961" imgH="22707286" progId="AcroExch.Document.DC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848D8A0-5D70-45A1-B32C-A30DE28CA3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20989" y="0"/>
                        <a:ext cx="9695240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FEE7881C-14F6-4C23-9580-2F49A3DD4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05660" y="-951484"/>
            <a:ext cx="10515600" cy="3986784"/>
          </a:xfrm>
        </p:spPr>
        <p:txBody>
          <a:bodyPr>
            <a:noAutofit/>
          </a:bodyPr>
          <a:lstStyle/>
          <a:p>
            <a:pPr algn="ctr"/>
            <a:r>
              <a:rPr lang="en-IN" dirty="0"/>
              <a:t>PLANING</a:t>
            </a:r>
            <a:br>
              <a:rPr lang="en-IN" dirty="0"/>
            </a:br>
            <a:r>
              <a:rPr lang="en-IN" dirty="0"/>
              <a:t>CONSIDERATIONS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32BBD5-CBFD-4A3C-9FB3-3AB581D70E56}"/>
              </a:ext>
            </a:extLst>
          </p:cNvPr>
          <p:cNvSpPr/>
          <p:nvPr/>
        </p:nvSpPr>
        <p:spPr>
          <a:xfrm>
            <a:off x="152400" y="1676400"/>
            <a:ext cx="5715000" cy="502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55C63A-671C-4D37-89EE-BC2F9226FFFD}"/>
              </a:ext>
            </a:extLst>
          </p:cNvPr>
          <p:cNvSpPr txBox="1"/>
          <p:nvPr/>
        </p:nvSpPr>
        <p:spPr>
          <a:xfrm>
            <a:off x="127000" y="1930400"/>
            <a:ext cx="5765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NO THROUGH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THEATRES AND PREPARATION SPACE SEPERATED BY A RESTRICTED CORRIDOR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STERILE ITEMS COMES THROUGH DEDICATED STERILE CORRIDOR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UNIDIRECTIONAL FLOW IS ACHIEVED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TOILETS DO NO DIRECTLY OPEN TO THE RESTRICTED CORRIDOR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0D367A-1299-482A-BEE4-3BD5EE4F86E7}"/>
              </a:ext>
            </a:extLst>
          </p:cNvPr>
          <p:cNvSpPr/>
          <p:nvPr/>
        </p:nvSpPr>
        <p:spPr>
          <a:xfrm>
            <a:off x="9077325" y="4800600"/>
            <a:ext cx="409575" cy="114300"/>
          </a:xfrm>
          <a:prstGeom prst="rect">
            <a:avLst/>
          </a:prstGeom>
          <a:solidFill>
            <a:srgbClr val="AFD996"/>
          </a:solidFill>
          <a:ln>
            <a:solidFill>
              <a:srgbClr val="AFD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561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141A8693-DC01-4F06-A6E4-37A92AF527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563127"/>
              </p:ext>
            </p:extLst>
          </p:nvPr>
        </p:nvGraphicFramePr>
        <p:xfrm>
          <a:off x="5728211" y="0"/>
          <a:ext cx="969523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32098961" imgH="22707286" progId="AcroExch.Document.DC">
                  <p:embed/>
                </p:oleObj>
              </mc:Choice>
              <mc:Fallback>
                <p:oleObj name="Acrobat Document" r:id="rId2" imgW="32098961" imgH="22707286" progId="AcroExch.Document.DC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3DEFEB1-9E63-473E-9BDC-3CB466580E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28211" y="0"/>
                        <a:ext cx="9695238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7D68EB02-F6A5-44D4-B5FB-EB4EA748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  DOCTOR’S / STAFF FLOW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618393-6762-48AF-B2E4-D18C011C11D4}"/>
              </a:ext>
            </a:extLst>
          </p:cNvPr>
          <p:cNvCxnSpPr>
            <a:cxnSpLocks/>
          </p:cNvCxnSpPr>
          <p:nvPr/>
        </p:nvCxnSpPr>
        <p:spPr>
          <a:xfrm>
            <a:off x="6317943" y="5948367"/>
            <a:ext cx="500064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54137A-270D-485B-B924-6AEEC2B0B0E5}"/>
              </a:ext>
            </a:extLst>
          </p:cNvPr>
          <p:cNvCxnSpPr>
            <a:cxnSpLocks/>
          </p:cNvCxnSpPr>
          <p:nvPr/>
        </p:nvCxnSpPr>
        <p:spPr>
          <a:xfrm>
            <a:off x="7073900" y="5948367"/>
            <a:ext cx="342900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043854-1F26-417B-9C84-C621DA51CCE1}"/>
              </a:ext>
            </a:extLst>
          </p:cNvPr>
          <p:cNvCxnSpPr>
            <a:cxnSpLocks/>
          </p:cNvCxnSpPr>
          <p:nvPr/>
        </p:nvCxnSpPr>
        <p:spPr>
          <a:xfrm>
            <a:off x="5586423" y="5948367"/>
            <a:ext cx="500064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43C140D-1C65-4358-BA38-C2E6B2E0CE33}"/>
              </a:ext>
            </a:extLst>
          </p:cNvPr>
          <p:cNvCxnSpPr>
            <a:cxnSpLocks/>
          </p:cNvCxnSpPr>
          <p:nvPr/>
        </p:nvCxnSpPr>
        <p:spPr>
          <a:xfrm flipV="1">
            <a:off x="7418875" y="5353050"/>
            <a:ext cx="0" cy="600874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B4904CE-E439-490F-9660-BE47701C9F57}"/>
              </a:ext>
            </a:extLst>
          </p:cNvPr>
          <p:cNvCxnSpPr>
            <a:cxnSpLocks/>
          </p:cNvCxnSpPr>
          <p:nvPr/>
        </p:nvCxnSpPr>
        <p:spPr>
          <a:xfrm flipV="1">
            <a:off x="6856900" y="4812512"/>
            <a:ext cx="0" cy="508788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F1312C5-6501-46AB-A796-B54B06CB58AF}"/>
              </a:ext>
            </a:extLst>
          </p:cNvPr>
          <p:cNvCxnSpPr>
            <a:cxnSpLocks/>
          </p:cNvCxnSpPr>
          <p:nvPr/>
        </p:nvCxnSpPr>
        <p:spPr>
          <a:xfrm flipV="1">
            <a:off x="7114075" y="4812512"/>
            <a:ext cx="0" cy="496088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D36CBFC-CCD0-4D12-A882-B4BB31AF7162}"/>
              </a:ext>
            </a:extLst>
          </p:cNvPr>
          <p:cNvCxnSpPr>
            <a:cxnSpLocks/>
          </p:cNvCxnSpPr>
          <p:nvPr/>
        </p:nvCxnSpPr>
        <p:spPr>
          <a:xfrm flipV="1">
            <a:off x="7688750" y="4812512"/>
            <a:ext cx="0" cy="508788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69692EB-3E03-44D2-AEA4-4C229943EA8A}"/>
              </a:ext>
            </a:extLst>
          </p:cNvPr>
          <p:cNvCxnSpPr>
            <a:cxnSpLocks/>
          </p:cNvCxnSpPr>
          <p:nvPr/>
        </p:nvCxnSpPr>
        <p:spPr>
          <a:xfrm flipV="1">
            <a:off x="6856900" y="4079085"/>
            <a:ext cx="0" cy="40719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2954720-819A-4457-8D28-1A38374DFF39}"/>
              </a:ext>
            </a:extLst>
          </p:cNvPr>
          <p:cNvCxnSpPr>
            <a:cxnSpLocks/>
          </p:cNvCxnSpPr>
          <p:nvPr/>
        </p:nvCxnSpPr>
        <p:spPr>
          <a:xfrm flipV="1">
            <a:off x="7114075" y="4079086"/>
            <a:ext cx="0" cy="404014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22594A0-FC45-4C7E-B690-4FEA38033279}"/>
              </a:ext>
            </a:extLst>
          </p:cNvPr>
          <p:cNvCxnSpPr>
            <a:cxnSpLocks/>
          </p:cNvCxnSpPr>
          <p:nvPr/>
        </p:nvCxnSpPr>
        <p:spPr>
          <a:xfrm flipV="1">
            <a:off x="7688750" y="4079086"/>
            <a:ext cx="0" cy="404014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D4EF553-70F0-48B7-9026-EE40263CD1CA}"/>
              </a:ext>
            </a:extLst>
          </p:cNvPr>
          <p:cNvCxnSpPr>
            <a:cxnSpLocks/>
          </p:cNvCxnSpPr>
          <p:nvPr/>
        </p:nvCxnSpPr>
        <p:spPr>
          <a:xfrm>
            <a:off x="6843805" y="4076305"/>
            <a:ext cx="541245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9D34CE1-B6E4-4FAE-BD99-96069B38B876}"/>
              </a:ext>
            </a:extLst>
          </p:cNvPr>
          <p:cNvCxnSpPr>
            <a:cxnSpLocks/>
          </p:cNvCxnSpPr>
          <p:nvPr/>
        </p:nvCxnSpPr>
        <p:spPr>
          <a:xfrm>
            <a:off x="7540625" y="4076305"/>
            <a:ext cx="476250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6A23252-6CD7-4143-B2A5-B047C7AA6D6F}"/>
              </a:ext>
            </a:extLst>
          </p:cNvPr>
          <p:cNvCxnSpPr>
            <a:cxnSpLocks/>
          </p:cNvCxnSpPr>
          <p:nvPr/>
        </p:nvCxnSpPr>
        <p:spPr>
          <a:xfrm flipV="1">
            <a:off x="8009425" y="3800475"/>
            <a:ext cx="0" cy="276225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01DE619-0A9B-4B45-BB2F-4B900B450653}"/>
              </a:ext>
            </a:extLst>
          </p:cNvPr>
          <p:cNvCxnSpPr>
            <a:cxnSpLocks/>
          </p:cNvCxnSpPr>
          <p:nvPr/>
        </p:nvCxnSpPr>
        <p:spPr>
          <a:xfrm>
            <a:off x="6854825" y="5326067"/>
            <a:ext cx="838200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17C45CC-4965-464F-862C-7A9707D35E94}"/>
              </a:ext>
            </a:extLst>
          </p:cNvPr>
          <p:cNvCxnSpPr>
            <a:cxnSpLocks/>
          </p:cNvCxnSpPr>
          <p:nvPr/>
        </p:nvCxnSpPr>
        <p:spPr>
          <a:xfrm rot="16200000">
            <a:off x="8486778" y="2991963"/>
            <a:ext cx="500063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E64309A-12DF-446F-A726-3872E99523E8}"/>
              </a:ext>
            </a:extLst>
          </p:cNvPr>
          <p:cNvCxnSpPr>
            <a:cxnSpLocks/>
          </p:cNvCxnSpPr>
          <p:nvPr/>
        </p:nvCxnSpPr>
        <p:spPr>
          <a:xfrm rot="16200000">
            <a:off x="8486779" y="2291875"/>
            <a:ext cx="500063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8B5BB3F-F7FB-4BC4-BC17-1C9417F50C68}"/>
              </a:ext>
            </a:extLst>
          </p:cNvPr>
          <p:cNvCxnSpPr>
            <a:cxnSpLocks/>
          </p:cNvCxnSpPr>
          <p:nvPr/>
        </p:nvCxnSpPr>
        <p:spPr>
          <a:xfrm rot="16200000">
            <a:off x="10387016" y="2991963"/>
            <a:ext cx="500063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F1FA03D-9013-4244-953D-D9448D7545D3}"/>
              </a:ext>
            </a:extLst>
          </p:cNvPr>
          <p:cNvCxnSpPr>
            <a:cxnSpLocks/>
          </p:cNvCxnSpPr>
          <p:nvPr/>
        </p:nvCxnSpPr>
        <p:spPr>
          <a:xfrm rot="16200000">
            <a:off x="10387017" y="2291875"/>
            <a:ext cx="500063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A34289D-53FB-43A6-9A6D-C241F6A0E622}"/>
              </a:ext>
            </a:extLst>
          </p:cNvPr>
          <p:cNvCxnSpPr>
            <a:cxnSpLocks/>
          </p:cNvCxnSpPr>
          <p:nvPr/>
        </p:nvCxnSpPr>
        <p:spPr>
          <a:xfrm flipH="1">
            <a:off x="9342120" y="3607116"/>
            <a:ext cx="304800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EA56C5C-6778-43E1-BA20-D29E626C0520}"/>
              </a:ext>
            </a:extLst>
          </p:cNvPr>
          <p:cNvCxnSpPr>
            <a:cxnSpLocks/>
          </p:cNvCxnSpPr>
          <p:nvPr/>
        </p:nvCxnSpPr>
        <p:spPr>
          <a:xfrm flipH="1">
            <a:off x="9298782" y="3245328"/>
            <a:ext cx="726283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FB996A6-0301-496F-8EF6-C3F50BB021F7}"/>
              </a:ext>
            </a:extLst>
          </p:cNvPr>
          <p:cNvCxnSpPr>
            <a:cxnSpLocks/>
          </p:cNvCxnSpPr>
          <p:nvPr/>
        </p:nvCxnSpPr>
        <p:spPr>
          <a:xfrm flipH="1">
            <a:off x="8010526" y="3607116"/>
            <a:ext cx="287654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81B7DED-BC30-49F2-97EF-E299D4740C5F}"/>
              </a:ext>
            </a:extLst>
          </p:cNvPr>
          <p:cNvCxnSpPr>
            <a:cxnSpLocks/>
          </p:cNvCxnSpPr>
          <p:nvPr/>
        </p:nvCxnSpPr>
        <p:spPr>
          <a:xfrm flipV="1">
            <a:off x="8009425" y="3604742"/>
            <a:ext cx="0" cy="90958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D703F64-DB0D-4C90-BFFD-17C816A7237D}"/>
              </a:ext>
            </a:extLst>
          </p:cNvPr>
          <p:cNvCxnSpPr>
            <a:cxnSpLocks/>
          </p:cNvCxnSpPr>
          <p:nvPr/>
        </p:nvCxnSpPr>
        <p:spPr>
          <a:xfrm flipH="1">
            <a:off x="8460106" y="3607116"/>
            <a:ext cx="653414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2071B28-F21F-4AF4-A6E4-12EE627D12A6}"/>
              </a:ext>
            </a:extLst>
          </p:cNvPr>
          <p:cNvCxnSpPr>
            <a:cxnSpLocks/>
          </p:cNvCxnSpPr>
          <p:nvPr/>
        </p:nvCxnSpPr>
        <p:spPr>
          <a:xfrm flipV="1">
            <a:off x="9643591" y="2926556"/>
            <a:ext cx="0" cy="683419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FDE1919-002E-4783-BE7A-A02F84059260}"/>
              </a:ext>
            </a:extLst>
          </p:cNvPr>
          <p:cNvCxnSpPr>
            <a:cxnSpLocks/>
          </p:cNvCxnSpPr>
          <p:nvPr/>
        </p:nvCxnSpPr>
        <p:spPr>
          <a:xfrm flipH="1">
            <a:off x="8737282" y="3242470"/>
            <a:ext cx="354331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6A99867-083A-44DA-B3A0-04C6D0D77B93}"/>
              </a:ext>
            </a:extLst>
          </p:cNvPr>
          <p:cNvCxnSpPr>
            <a:cxnSpLocks/>
          </p:cNvCxnSpPr>
          <p:nvPr/>
        </p:nvCxnSpPr>
        <p:spPr>
          <a:xfrm flipH="1">
            <a:off x="10265569" y="3242470"/>
            <a:ext cx="374331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75B48A6-5E9E-42BB-B937-F880BD4B5089}"/>
              </a:ext>
            </a:extLst>
          </p:cNvPr>
          <p:cNvCxnSpPr>
            <a:cxnSpLocks/>
          </p:cNvCxnSpPr>
          <p:nvPr/>
        </p:nvCxnSpPr>
        <p:spPr>
          <a:xfrm flipV="1">
            <a:off x="6752436" y="2924175"/>
            <a:ext cx="0" cy="571823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0DFDA94-CA70-448D-9B44-D1EBFF6E69B6}"/>
              </a:ext>
            </a:extLst>
          </p:cNvPr>
          <p:cNvCxnSpPr>
            <a:cxnSpLocks/>
          </p:cNvCxnSpPr>
          <p:nvPr/>
        </p:nvCxnSpPr>
        <p:spPr>
          <a:xfrm flipH="1">
            <a:off x="6012656" y="3496470"/>
            <a:ext cx="742634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752E097-D313-48A9-A506-F4390DBEF5ED}"/>
              </a:ext>
            </a:extLst>
          </p:cNvPr>
          <p:cNvCxnSpPr>
            <a:cxnSpLocks/>
          </p:cNvCxnSpPr>
          <p:nvPr/>
        </p:nvCxnSpPr>
        <p:spPr>
          <a:xfrm flipH="1">
            <a:off x="6764656" y="2559366"/>
            <a:ext cx="267969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374203B5-0F81-40E7-8C13-76530EC421AA}"/>
              </a:ext>
            </a:extLst>
          </p:cNvPr>
          <p:cNvCxnSpPr>
            <a:cxnSpLocks/>
          </p:cNvCxnSpPr>
          <p:nvPr/>
        </p:nvCxnSpPr>
        <p:spPr>
          <a:xfrm flipV="1">
            <a:off x="7390611" y="2251075"/>
            <a:ext cx="0" cy="301947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890B7729-C9D8-48DE-A3F4-EDF9DEEDF2E0}"/>
              </a:ext>
            </a:extLst>
          </p:cNvPr>
          <p:cNvCxnSpPr>
            <a:cxnSpLocks/>
          </p:cNvCxnSpPr>
          <p:nvPr/>
        </p:nvCxnSpPr>
        <p:spPr>
          <a:xfrm flipH="1">
            <a:off x="7027861" y="1787841"/>
            <a:ext cx="373064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4CD473D4-3F18-43B8-B813-78869696F961}"/>
              </a:ext>
            </a:extLst>
          </p:cNvPr>
          <p:cNvCxnSpPr>
            <a:cxnSpLocks/>
          </p:cNvCxnSpPr>
          <p:nvPr/>
        </p:nvCxnSpPr>
        <p:spPr>
          <a:xfrm flipV="1">
            <a:off x="6752436" y="2552702"/>
            <a:ext cx="0" cy="219073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178D9CE-041C-498A-A21C-88FF2AAC7607}"/>
              </a:ext>
            </a:extLst>
          </p:cNvPr>
          <p:cNvCxnSpPr>
            <a:cxnSpLocks/>
          </p:cNvCxnSpPr>
          <p:nvPr/>
        </p:nvCxnSpPr>
        <p:spPr>
          <a:xfrm flipH="1">
            <a:off x="7136131" y="2559366"/>
            <a:ext cx="267969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C979A163-D3B2-4CEF-895C-7F0D385D5F33}"/>
              </a:ext>
            </a:extLst>
          </p:cNvPr>
          <p:cNvCxnSpPr>
            <a:cxnSpLocks/>
          </p:cNvCxnSpPr>
          <p:nvPr/>
        </p:nvCxnSpPr>
        <p:spPr>
          <a:xfrm flipV="1">
            <a:off x="7390611" y="1778001"/>
            <a:ext cx="0" cy="348455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860DEF78-1AA1-44E9-B064-484B2A778764}"/>
              </a:ext>
            </a:extLst>
          </p:cNvPr>
          <p:cNvCxnSpPr>
            <a:cxnSpLocks/>
          </p:cNvCxnSpPr>
          <p:nvPr/>
        </p:nvCxnSpPr>
        <p:spPr>
          <a:xfrm flipH="1">
            <a:off x="6696075" y="1787841"/>
            <a:ext cx="214312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424F0CD-FC15-4A28-B3A9-7D5C497FBF8B}"/>
              </a:ext>
            </a:extLst>
          </p:cNvPr>
          <p:cNvCxnSpPr>
            <a:cxnSpLocks/>
          </p:cNvCxnSpPr>
          <p:nvPr/>
        </p:nvCxnSpPr>
        <p:spPr>
          <a:xfrm flipV="1">
            <a:off x="6697666" y="1497807"/>
            <a:ext cx="0" cy="291462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FD3BAED-DF0F-422D-A11A-7792560F59D4}"/>
              </a:ext>
            </a:extLst>
          </p:cNvPr>
          <p:cNvCxnSpPr>
            <a:cxnSpLocks/>
          </p:cNvCxnSpPr>
          <p:nvPr/>
        </p:nvCxnSpPr>
        <p:spPr>
          <a:xfrm flipV="1">
            <a:off x="6697666" y="1066801"/>
            <a:ext cx="0" cy="291462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E575A42-FDBC-4018-B418-F7B0D86B2341}"/>
              </a:ext>
            </a:extLst>
          </p:cNvPr>
          <p:cNvCxnSpPr>
            <a:cxnSpLocks/>
          </p:cNvCxnSpPr>
          <p:nvPr/>
        </p:nvCxnSpPr>
        <p:spPr>
          <a:xfrm flipV="1">
            <a:off x="6697666" y="650876"/>
            <a:ext cx="0" cy="291462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290F4B6-CEB2-42A9-8F87-BC7B39AA57F3}"/>
              </a:ext>
            </a:extLst>
          </p:cNvPr>
          <p:cNvCxnSpPr>
            <a:cxnSpLocks/>
          </p:cNvCxnSpPr>
          <p:nvPr/>
        </p:nvCxnSpPr>
        <p:spPr>
          <a:xfrm rot="5400000" flipV="1">
            <a:off x="6884991" y="352426"/>
            <a:ext cx="0" cy="291462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F709CFD-2440-44E8-BA2F-90FA8E436F31}"/>
              </a:ext>
            </a:extLst>
          </p:cNvPr>
          <p:cNvCxnSpPr>
            <a:cxnSpLocks/>
          </p:cNvCxnSpPr>
          <p:nvPr/>
        </p:nvCxnSpPr>
        <p:spPr>
          <a:xfrm>
            <a:off x="7158360" y="498157"/>
            <a:ext cx="452115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873DBD-0970-4ACB-9C82-ED699B471B8F}"/>
              </a:ext>
            </a:extLst>
          </p:cNvPr>
          <p:cNvCxnSpPr>
            <a:cxnSpLocks/>
          </p:cNvCxnSpPr>
          <p:nvPr/>
        </p:nvCxnSpPr>
        <p:spPr>
          <a:xfrm>
            <a:off x="7748910" y="498157"/>
            <a:ext cx="452115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9AF027A-C721-484D-B1FD-424259B7881E}"/>
              </a:ext>
            </a:extLst>
          </p:cNvPr>
          <p:cNvCxnSpPr>
            <a:cxnSpLocks/>
          </p:cNvCxnSpPr>
          <p:nvPr/>
        </p:nvCxnSpPr>
        <p:spPr>
          <a:xfrm>
            <a:off x="8345810" y="498157"/>
            <a:ext cx="452115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839B0C6-417C-46C4-9574-49FA4D1743BC}"/>
              </a:ext>
            </a:extLst>
          </p:cNvPr>
          <p:cNvCxnSpPr>
            <a:cxnSpLocks/>
          </p:cNvCxnSpPr>
          <p:nvPr/>
        </p:nvCxnSpPr>
        <p:spPr>
          <a:xfrm>
            <a:off x="8942710" y="498157"/>
            <a:ext cx="452115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70B1146-1E73-404E-A3D1-CFCC78375770}"/>
              </a:ext>
            </a:extLst>
          </p:cNvPr>
          <p:cNvCxnSpPr>
            <a:cxnSpLocks/>
          </p:cNvCxnSpPr>
          <p:nvPr/>
        </p:nvCxnSpPr>
        <p:spPr>
          <a:xfrm>
            <a:off x="9542785" y="498157"/>
            <a:ext cx="452115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02C2F08-B99A-48CC-95A1-93796AC8765C}"/>
              </a:ext>
            </a:extLst>
          </p:cNvPr>
          <p:cNvCxnSpPr>
            <a:cxnSpLocks/>
          </p:cNvCxnSpPr>
          <p:nvPr/>
        </p:nvCxnSpPr>
        <p:spPr>
          <a:xfrm>
            <a:off x="10203185" y="498157"/>
            <a:ext cx="452115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DFC760E-673A-4C78-A142-C1D138CCF8E3}"/>
              </a:ext>
            </a:extLst>
          </p:cNvPr>
          <p:cNvCxnSpPr>
            <a:cxnSpLocks/>
          </p:cNvCxnSpPr>
          <p:nvPr/>
        </p:nvCxnSpPr>
        <p:spPr>
          <a:xfrm>
            <a:off x="10812785" y="498157"/>
            <a:ext cx="452115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4B1FB8DD-CD8E-43FE-94D7-87CC49ACC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535" y="1707079"/>
            <a:ext cx="11509829" cy="2519575"/>
          </a:xfrm>
        </p:spPr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DOCTOR / STAFF FLOW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   PRE SURGERY</a:t>
            </a: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20BC6AE-D032-479C-9297-A0A7CF777C77}"/>
              </a:ext>
            </a:extLst>
          </p:cNvPr>
          <p:cNvCxnSpPr>
            <a:cxnSpLocks/>
          </p:cNvCxnSpPr>
          <p:nvPr/>
        </p:nvCxnSpPr>
        <p:spPr>
          <a:xfrm>
            <a:off x="329184" y="3828288"/>
            <a:ext cx="1475232" cy="0"/>
          </a:xfrm>
          <a:prstGeom prst="straightConnector1">
            <a:avLst/>
          </a:prstGeom>
          <a:ln w="762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BB7B7EF9-9785-4874-91B2-23BE5093DE04}"/>
              </a:ext>
            </a:extLst>
          </p:cNvPr>
          <p:cNvSpPr txBox="1">
            <a:spLocks/>
          </p:cNvSpPr>
          <p:nvPr/>
        </p:nvSpPr>
        <p:spPr>
          <a:xfrm>
            <a:off x="1969879" y="3558137"/>
            <a:ext cx="2346089" cy="53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latin typeface="+mj-lt"/>
              </a:rPr>
              <a:t>- STERILE</a:t>
            </a: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95099FF-4511-49E1-A3CE-0966E9CE5335}"/>
              </a:ext>
            </a:extLst>
          </p:cNvPr>
          <p:cNvCxnSpPr>
            <a:cxnSpLocks/>
          </p:cNvCxnSpPr>
          <p:nvPr/>
        </p:nvCxnSpPr>
        <p:spPr>
          <a:xfrm>
            <a:off x="329184" y="4718304"/>
            <a:ext cx="1475232" cy="0"/>
          </a:xfrm>
          <a:prstGeom prst="straightConnector1">
            <a:avLst/>
          </a:prstGeom>
          <a:ln w="76200">
            <a:solidFill>
              <a:srgbClr val="FFFF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6C53E06B-B365-4F89-953B-C69FCA6A7DFB}"/>
              </a:ext>
            </a:extLst>
          </p:cNvPr>
          <p:cNvSpPr txBox="1">
            <a:spLocks/>
          </p:cNvSpPr>
          <p:nvPr/>
        </p:nvSpPr>
        <p:spPr>
          <a:xfrm>
            <a:off x="1969879" y="4448153"/>
            <a:ext cx="2346089" cy="53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latin typeface="+mj-lt"/>
              </a:rPr>
              <a:t>- NON STERILE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CAD9DC0-E877-48ED-AC84-7A51901F7E3D}"/>
              </a:ext>
            </a:extLst>
          </p:cNvPr>
          <p:cNvCxnSpPr>
            <a:cxnSpLocks/>
          </p:cNvCxnSpPr>
          <p:nvPr/>
        </p:nvCxnSpPr>
        <p:spPr>
          <a:xfrm>
            <a:off x="329184" y="5522976"/>
            <a:ext cx="1475232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ontent Placeholder 2">
            <a:extLst>
              <a:ext uri="{FF2B5EF4-FFF2-40B4-BE49-F238E27FC236}">
                <a16:creationId xmlns:a16="http://schemas.microsoft.com/office/drawing/2014/main" id="{A4029674-5031-471B-91DC-7C368E46A8B2}"/>
              </a:ext>
            </a:extLst>
          </p:cNvPr>
          <p:cNvSpPr txBox="1">
            <a:spLocks/>
          </p:cNvSpPr>
          <p:nvPr/>
        </p:nvSpPr>
        <p:spPr>
          <a:xfrm>
            <a:off x="1969879" y="5252825"/>
            <a:ext cx="2821577" cy="11723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IN" dirty="0">
                <a:latin typeface="+mj-lt"/>
              </a:rPr>
              <a:t>EXPOSED TO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   CONTAMINATION 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2670CF-21F8-4343-9B2F-FC16470E0AEF}"/>
              </a:ext>
            </a:extLst>
          </p:cNvPr>
          <p:cNvSpPr txBox="1"/>
          <p:nvPr/>
        </p:nvSpPr>
        <p:spPr>
          <a:xfrm>
            <a:off x="4396740" y="5425440"/>
            <a:ext cx="221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C00000"/>
                </a:solidFill>
              </a:rPr>
              <a:t>DOCTOR &amp; THEATRE</a:t>
            </a:r>
          </a:p>
          <a:p>
            <a:pPr algn="ctr"/>
            <a:r>
              <a:rPr lang="en-IN" sz="1200" dirty="0">
                <a:solidFill>
                  <a:srgbClr val="C00000"/>
                </a:solidFill>
              </a:rPr>
              <a:t>STAFF FLOW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4DFA2E7-AA41-4D02-8220-A8FFF0D5990C}"/>
              </a:ext>
            </a:extLst>
          </p:cNvPr>
          <p:cNvSpPr txBox="1"/>
          <p:nvPr/>
        </p:nvSpPr>
        <p:spPr>
          <a:xfrm>
            <a:off x="4396740" y="3017520"/>
            <a:ext cx="221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C00000"/>
                </a:solidFill>
              </a:rPr>
              <a:t>CSSD &amp; STERILE STORE</a:t>
            </a:r>
          </a:p>
          <a:p>
            <a:pPr algn="ctr"/>
            <a:r>
              <a:rPr lang="en-IN" sz="1200" dirty="0">
                <a:solidFill>
                  <a:srgbClr val="C00000"/>
                </a:solidFill>
              </a:rPr>
              <a:t>STAFF FLOW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F8B8089-03A7-4729-8078-74C8D6172025}"/>
              </a:ext>
            </a:extLst>
          </p:cNvPr>
          <p:cNvSpPr/>
          <p:nvPr/>
        </p:nvSpPr>
        <p:spPr>
          <a:xfrm>
            <a:off x="9194800" y="4762500"/>
            <a:ext cx="409575" cy="114300"/>
          </a:xfrm>
          <a:prstGeom prst="rect">
            <a:avLst/>
          </a:prstGeom>
          <a:solidFill>
            <a:srgbClr val="AFD996"/>
          </a:solidFill>
          <a:ln>
            <a:solidFill>
              <a:srgbClr val="AFD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10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15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20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0"/>
                            </p:stCondLst>
                            <p:childTnLst>
                              <p:par>
                                <p:cTn id="1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848F529E-FB23-43CA-B573-4A3CEA7C04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432249"/>
              </p:ext>
            </p:extLst>
          </p:nvPr>
        </p:nvGraphicFramePr>
        <p:xfrm>
          <a:off x="5728211" y="0"/>
          <a:ext cx="969523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32098961" imgH="22707286" progId="AcroExch.Document.DC">
                  <p:embed/>
                </p:oleObj>
              </mc:Choice>
              <mc:Fallback>
                <p:oleObj name="Acrobat Document" r:id="rId2" imgW="32098961" imgH="22707286" progId="AcroExch.Document.DC">
                  <p:embed/>
                  <p:pic>
                    <p:nvPicPr>
                      <p:cNvPr id="78" name="Object 77">
                        <a:extLst>
                          <a:ext uri="{FF2B5EF4-FFF2-40B4-BE49-F238E27FC236}">
                            <a16:creationId xmlns:a16="http://schemas.microsoft.com/office/drawing/2014/main" id="{141A8693-DC01-4F06-A6E4-37A92AF527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28211" y="0"/>
                        <a:ext cx="9695238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7D68EB02-F6A5-44D4-B5FB-EB4EA748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  DOCTOR’S / STAFF FLOW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618393-6762-48AF-B2E4-D18C011C11D4}"/>
              </a:ext>
            </a:extLst>
          </p:cNvPr>
          <p:cNvCxnSpPr>
            <a:cxnSpLocks/>
          </p:cNvCxnSpPr>
          <p:nvPr/>
        </p:nvCxnSpPr>
        <p:spPr>
          <a:xfrm flipH="1">
            <a:off x="6317943" y="5948367"/>
            <a:ext cx="500064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54137A-270D-485B-B924-6AEEC2B0B0E5}"/>
              </a:ext>
            </a:extLst>
          </p:cNvPr>
          <p:cNvCxnSpPr>
            <a:cxnSpLocks/>
          </p:cNvCxnSpPr>
          <p:nvPr/>
        </p:nvCxnSpPr>
        <p:spPr>
          <a:xfrm>
            <a:off x="7073900" y="5948367"/>
            <a:ext cx="342900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043854-1F26-417B-9C84-C621DA51CCE1}"/>
              </a:ext>
            </a:extLst>
          </p:cNvPr>
          <p:cNvCxnSpPr>
            <a:cxnSpLocks/>
          </p:cNvCxnSpPr>
          <p:nvPr/>
        </p:nvCxnSpPr>
        <p:spPr>
          <a:xfrm flipH="1">
            <a:off x="5586423" y="5948367"/>
            <a:ext cx="500064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43C140D-1C65-4358-BA38-C2E6B2E0CE33}"/>
              </a:ext>
            </a:extLst>
          </p:cNvPr>
          <p:cNvCxnSpPr>
            <a:cxnSpLocks/>
          </p:cNvCxnSpPr>
          <p:nvPr/>
        </p:nvCxnSpPr>
        <p:spPr>
          <a:xfrm flipV="1">
            <a:off x="7418875" y="5353050"/>
            <a:ext cx="0" cy="600874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B4904CE-E439-490F-9660-BE47701C9F57}"/>
              </a:ext>
            </a:extLst>
          </p:cNvPr>
          <p:cNvCxnSpPr>
            <a:cxnSpLocks/>
          </p:cNvCxnSpPr>
          <p:nvPr/>
        </p:nvCxnSpPr>
        <p:spPr>
          <a:xfrm>
            <a:off x="6856900" y="4812512"/>
            <a:ext cx="0" cy="508788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F1312C5-6501-46AB-A796-B54B06CB58AF}"/>
              </a:ext>
            </a:extLst>
          </p:cNvPr>
          <p:cNvCxnSpPr>
            <a:cxnSpLocks/>
          </p:cNvCxnSpPr>
          <p:nvPr/>
        </p:nvCxnSpPr>
        <p:spPr>
          <a:xfrm>
            <a:off x="7114075" y="4812512"/>
            <a:ext cx="0" cy="496088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D36CBFC-CCD0-4D12-A882-B4BB31AF7162}"/>
              </a:ext>
            </a:extLst>
          </p:cNvPr>
          <p:cNvCxnSpPr>
            <a:cxnSpLocks/>
          </p:cNvCxnSpPr>
          <p:nvPr/>
        </p:nvCxnSpPr>
        <p:spPr>
          <a:xfrm>
            <a:off x="7688750" y="4812512"/>
            <a:ext cx="0" cy="508788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69692EB-3E03-44D2-AEA4-4C229943EA8A}"/>
              </a:ext>
            </a:extLst>
          </p:cNvPr>
          <p:cNvCxnSpPr>
            <a:cxnSpLocks/>
          </p:cNvCxnSpPr>
          <p:nvPr/>
        </p:nvCxnSpPr>
        <p:spPr>
          <a:xfrm>
            <a:off x="6856900" y="4079085"/>
            <a:ext cx="0" cy="40719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2954720-819A-4457-8D28-1A38374DFF39}"/>
              </a:ext>
            </a:extLst>
          </p:cNvPr>
          <p:cNvCxnSpPr>
            <a:cxnSpLocks/>
          </p:cNvCxnSpPr>
          <p:nvPr/>
        </p:nvCxnSpPr>
        <p:spPr>
          <a:xfrm>
            <a:off x="7114075" y="4079086"/>
            <a:ext cx="0" cy="404014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22594A0-FC45-4C7E-B690-4FEA38033279}"/>
              </a:ext>
            </a:extLst>
          </p:cNvPr>
          <p:cNvCxnSpPr>
            <a:cxnSpLocks/>
          </p:cNvCxnSpPr>
          <p:nvPr/>
        </p:nvCxnSpPr>
        <p:spPr>
          <a:xfrm>
            <a:off x="7688750" y="4079086"/>
            <a:ext cx="0" cy="404014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D4EF553-70F0-48B7-9026-EE40263CD1CA}"/>
              </a:ext>
            </a:extLst>
          </p:cNvPr>
          <p:cNvCxnSpPr>
            <a:cxnSpLocks/>
          </p:cNvCxnSpPr>
          <p:nvPr/>
        </p:nvCxnSpPr>
        <p:spPr>
          <a:xfrm>
            <a:off x="6843805" y="4076305"/>
            <a:ext cx="494255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9D34CE1-B6E4-4FAE-BD99-96069B38B876}"/>
              </a:ext>
            </a:extLst>
          </p:cNvPr>
          <p:cNvCxnSpPr>
            <a:cxnSpLocks/>
          </p:cNvCxnSpPr>
          <p:nvPr/>
        </p:nvCxnSpPr>
        <p:spPr>
          <a:xfrm flipH="1">
            <a:off x="7510145" y="4076305"/>
            <a:ext cx="476250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01DE619-0A9B-4B45-BB2F-4B900B450653}"/>
              </a:ext>
            </a:extLst>
          </p:cNvPr>
          <p:cNvCxnSpPr>
            <a:cxnSpLocks/>
          </p:cNvCxnSpPr>
          <p:nvPr/>
        </p:nvCxnSpPr>
        <p:spPr>
          <a:xfrm>
            <a:off x="6854825" y="5326067"/>
            <a:ext cx="838200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17C45CC-4965-464F-862C-7A9707D35E94}"/>
              </a:ext>
            </a:extLst>
          </p:cNvPr>
          <p:cNvCxnSpPr>
            <a:cxnSpLocks/>
          </p:cNvCxnSpPr>
          <p:nvPr/>
        </p:nvCxnSpPr>
        <p:spPr>
          <a:xfrm rot="5400000" flipV="1">
            <a:off x="8486778" y="2991963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E64309A-12DF-446F-A726-3872E99523E8}"/>
              </a:ext>
            </a:extLst>
          </p:cNvPr>
          <p:cNvCxnSpPr>
            <a:cxnSpLocks/>
          </p:cNvCxnSpPr>
          <p:nvPr/>
        </p:nvCxnSpPr>
        <p:spPr>
          <a:xfrm rot="5400000" flipV="1">
            <a:off x="8486779" y="2291875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8B5BB3F-F7FB-4BC4-BC17-1C9417F50C68}"/>
              </a:ext>
            </a:extLst>
          </p:cNvPr>
          <p:cNvCxnSpPr>
            <a:cxnSpLocks/>
          </p:cNvCxnSpPr>
          <p:nvPr/>
        </p:nvCxnSpPr>
        <p:spPr>
          <a:xfrm rot="5400000" flipV="1">
            <a:off x="10387016" y="2991963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F1FA03D-9013-4244-953D-D9448D7545D3}"/>
              </a:ext>
            </a:extLst>
          </p:cNvPr>
          <p:cNvCxnSpPr>
            <a:cxnSpLocks/>
          </p:cNvCxnSpPr>
          <p:nvPr/>
        </p:nvCxnSpPr>
        <p:spPr>
          <a:xfrm rot="5400000" flipV="1">
            <a:off x="10387017" y="2291875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A34289D-53FB-43A6-9A6D-C241F6A0E622}"/>
              </a:ext>
            </a:extLst>
          </p:cNvPr>
          <p:cNvCxnSpPr>
            <a:cxnSpLocks/>
          </p:cNvCxnSpPr>
          <p:nvPr/>
        </p:nvCxnSpPr>
        <p:spPr>
          <a:xfrm flipH="1">
            <a:off x="9342120" y="3607116"/>
            <a:ext cx="323374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EA56C5C-6778-43E1-BA20-D29E626C0520}"/>
              </a:ext>
            </a:extLst>
          </p:cNvPr>
          <p:cNvCxnSpPr>
            <a:cxnSpLocks/>
          </p:cNvCxnSpPr>
          <p:nvPr/>
        </p:nvCxnSpPr>
        <p:spPr>
          <a:xfrm flipH="1">
            <a:off x="9298783" y="3245328"/>
            <a:ext cx="370997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FB996A6-0301-496F-8EF6-C3F50BB021F7}"/>
              </a:ext>
            </a:extLst>
          </p:cNvPr>
          <p:cNvCxnSpPr>
            <a:cxnSpLocks/>
          </p:cNvCxnSpPr>
          <p:nvPr/>
        </p:nvCxnSpPr>
        <p:spPr>
          <a:xfrm flipH="1">
            <a:off x="8010526" y="3607116"/>
            <a:ext cx="287654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81B7DED-BC30-49F2-97EF-E299D4740C5F}"/>
              </a:ext>
            </a:extLst>
          </p:cNvPr>
          <p:cNvCxnSpPr>
            <a:cxnSpLocks/>
          </p:cNvCxnSpPr>
          <p:nvPr/>
        </p:nvCxnSpPr>
        <p:spPr>
          <a:xfrm flipV="1">
            <a:off x="8009425" y="3604742"/>
            <a:ext cx="0" cy="342418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D703F64-DB0D-4C90-BFFD-17C816A7237D}"/>
              </a:ext>
            </a:extLst>
          </p:cNvPr>
          <p:cNvCxnSpPr>
            <a:cxnSpLocks/>
          </p:cNvCxnSpPr>
          <p:nvPr/>
        </p:nvCxnSpPr>
        <p:spPr>
          <a:xfrm>
            <a:off x="8460106" y="3607116"/>
            <a:ext cx="653414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2071B28-F21F-4AF4-A6E4-12EE627D12A6}"/>
              </a:ext>
            </a:extLst>
          </p:cNvPr>
          <p:cNvCxnSpPr>
            <a:cxnSpLocks/>
          </p:cNvCxnSpPr>
          <p:nvPr/>
        </p:nvCxnSpPr>
        <p:spPr>
          <a:xfrm flipV="1">
            <a:off x="9657877" y="3233739"/>
            <a:ext cx="0" cy="380999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FDE1919-002E-4783-BE7A-A02F84059260}"/>
              </a:ext>
            </a:extLst>
          </p:cNvPr>
          <p:cNvCxnSpPr>
            <a:cxnSpLocks/>
          </p:cNvCxnSpPr>
          <p:nvPr/>
        </p:nvCxnSpPr>
        <p:spPr>
          <a:xfrm flipH="1">
            <a:off x="8737283" y="3242470"/>
            <a:ext cx="338137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6A99867-083A-44DA-B3A0-04C6D0D77B93}"/>
              </a:ext>
            </a:extLst>
          </p:cNvPr>
          <p:cNvCxnSpPr>
            <a:cxnSpLocks/>
          </p:cNvCxnSpPr>
          <p:nvPr/>
        </p:nvCxnSpPr>
        <p:spPr>
          <a:xfrm>
            <a:off x="10265569" y="3242470"/>
            <a:ext cx="374331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375FBE8-2880-4A01-83A1-EC19401EE712}"/>
              </a:ext>
            </a:extLst>
          </p:cNvPr>
          <p:cNvCxnSpPr>
            <a:cxnSpLocks/>
          </p:cNvCxnSpPr>
          <p:nvPr/>
        </p:nvCxnSpPr>
        <p:spPr>
          <a:xfrm flipH="1">
            <a:off x="9649303" y="3245328"/>
            <a:ext cx="370997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3D6B27-B3D8-425C-8E60-678D4044AC32}"/>
              </a:ext>
            </a:extLst>
          </p:cNvPr>
          <p:cNvCxnSpPr>
            <a:cxnSpLocks/>
          </p:cNvCxnSpPr>
          <p:nvPr/>
        </p:nvCxnSpPr>
        <p:spPr>
          <a:xfrm flipV="1">
            <a:off x="6752436" y="3059906"/>
            <a:ext cx="0" cy="436093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6CB74C-B967-4F64-AE68-BC5AA053567C}"/>
              </a:ext>
            </a:extLst>
          </p:cNvPr>
          <p:cNvCxnSpPr>
            <a:cxnSpLocks/>
          </p:cNvCxnSpPr>
          <p:nvPr/>
        </p:nvCxnSpPr>
        <p:spPr>
          <a:xfrm flipH="1">
            <a:off x="6446520" y="3496470"/>
            <a:ext cx="308770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62EFFB4-58B9-4496-9724-2FBD02E084A1}"/>
              </a:ext>
            </a:extLst>
          </p:cNvPr>
          <p:cNvCxnSpPr>
            <a:cxnSpLocks/>
          </p:cNvCxnSpPr>
          <p:nvPr/>
        </p:nvCxnSpPr>
        <p:spPr>
          <a:xfrm flipH="1">
            <a:off x="6764657" y="2559366"/>
            <a:ext cx="202881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4FD3A8E-2402-47E4-A5BB-0B930E2F3CE2}"/>
              </a:ext>
            </a:extLst>
          </p:cNvPr>
          <p:cNvCxnSpPr>
            <a:cxnSpLocks/>
          </p:cNvCxnSpPr>
          <p:nvPr/>
        </p:nvCxnSpPr>
        <p:spPr>
          <a:xfrm flipV="1">
            <a:off x="7390611" y="2251075"/>
            <a:ext cx="0" cy="301947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0637BB-DA75-41F8-8D73-3FA771A4002A}"/>
              </a:ext>
            </a:extLst>
          </p:cNvPr>
          <p:cNvCxnSpPr>
            <a:cxnSpLocks/>
          </p:cNvCxnSpPr>
          <p:nvPr/>
        </p:nvCxnSpPr>
        <p:spPr>
          <a:xfrm flipH="1">
            <a:off x="7169944" y="1787841"/>
            <a:ext cx="230981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FAC87E-15F1-4699-BBB7-745908737FF8}"/>
              </a:ext>
            </a:extLst>
          </p:cNvPr>
          <p:cNvCxnSpPr>
            <a:cxnSpLocks/>
          </p:cNvCxnSpPr>
          <p:nvPr/>
        </p:nvCxnSpPr>
        <p:spPr>
          <a:xfrm>
            <a:off x="6752436" y="2552702"/>
            <a:ext cx="0" cy="364329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1A0DD81-30AE-46F1-A60C-F7A6DCA74419}"/>
              </a:ext>
            </a:extLst>
          </p:cNvPr>
          <p:cNvCxnSpPr>
            <a:cxnSpLocks/>
          </p:cNvCxnSpPr>
          <p:nvPr/>
        </p:nvCxnSpPr>
        <p:spPr>
          <a:xfrm flipH="1">
            <a:off x="7136131" y="2559366"/>
            <a:ext cx="267969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2864D37-E995-4FC0-8ABC-0EF305A595D0}"/>
              </a:ext>
            </a:extLst>
          </p:cNvPr>
          <p:cNvCxnSpPr>
            <a:cxnSpLocks/>
          </p:cNvCxnSpPr>
          <p:nvPr/>
        </p:nvCxnSpPr>
        <p:spPr>
          <a:xfrm flipV="1">
            <a:off x="7390611" y="1778001"/>
            <a:ext cx="0" cy="348455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9095A50-1E90-4941-9218-2AC5B71C1498}"/>
              </a:ext>
            </a:extLst>
          </p:cNvPr>
          <p:cNvCxnSpPr>
            <a:cxnSpLocks/>
          </p:cNvCxnSpPr>
          <p:nvPr/>
        </p:nvCxnSpPr>
        <p:spPr>
          <a:xfrm>
            <a:off x="6697666" y="650876"/>
            <a:ext cx="0" cy="291462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AA4BC97-805D-49EB-BECA-09454B5FB68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884991" y="352426"/>
            <a:ext cx="0" cy="291462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2D2F1A6-DE33-4988-BEA3-3290F1760CD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304091" y="352426"/>
            <a:ext cx="0" cy="291462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9118CD2-56DE-4687-A7F5-618EF5B4CD4E}"/>
              </a:ext>
            </a:extLst>
          </p:cNvPr>
          <p:cNvCxnSpPr>
            <a:cxnSpLocks/>
          </p:cNvCxnSpPr>
          <p:nvPr/>
        </p:nvCxnSpPr>
        <p:spPr>
          <a:xfrm flipH="1">
            <a:off x="5829300" y="3496470"/>
            <a:ext cx="529750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90E2CE8C-C960-49B4-BC9A-3429E817D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535" y="1707079"/>
            <a:ext cx="11509829" cy="2519575"/>
          </a:xfrm>
        </p:spPr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DOCTOR / STAFF FLOW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   POST SURGERY</a:t>
            </a: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70275BD-9005-4836-A4B2-449FD550FFC7}"/>
              </a:ext>
            </a:extLst>
          </p:cNvPr>
          <p:cNvCxnSpPr>
            <a:cxnSpLocks/>
          </p:cNvCxnSpPr>
          <p:nvPr/>
        </p:nvCxnSpPr>
        <p:spPr>
          <a:xfrm>
            <a:off x="329184" y="3828288"/>
            <a:ext cx="1475232" cy="0"/>
          </a:xfrm>
          <a:prstGeom prst="straightConnector1">
            <a:avLst/>
          </a:prstGeom>
          <a:ln w="762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61814034-919F-4484-924F-53493BEA3C62}"/>
              </a:ext>
            </a:extLst>
          </p:cNvPr>
          <p:cNvSpPr txBox="1">
            <a:spLocks/>
          </p:cNvSpPr>
          <p:nvPr/>
        </p:nvSpPr>
        <p:spPr>
          <a:xfrm>
            <a:off x="1969879" y="3558137"/>
            <a:ext cx="2346089" cy="53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latin typeface="+mj-lt"/>
              </a:rPr>
              <a:t>- STERILE</a:t>
            </a: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42D7C19-7157-4EF8-96CF-787E45054C7D}"/>
              </a:ext>
            </a:extLst>
          </p:cNvPr>
          <p:cNvCxnSpPr>
            <a:cxnSpLocks/>
          </p:cNvCxnSpPr>
          <p:nvPr/>
        </p:nvCxnSpPr>
        <p:spPr>
          <a:xfrm>
            <a:off x="329184" y="4718304"/>
            <a:ext cx="1475232" cy="0"/>
          </a:xfrm>
          <a:prstGeom prst="straightConnector1">
            <a:avLst/>
          </a:prstGeom>
          <a:ln w="76200">
            <a:solidFill>
              <a:srgbClr val="FFFF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3609BCB2-0110-4659-BF94-FF0B00911411}"/>
              </a:ext>
            </a:extLst>
          </p:cNvPr>
          <p:cNvSpPr txBox="1">
            <a:spLocks/>
          </p:cNvSpPr>
          <p:nvPr/>
        </p:nvSpPr>
        <p:spPr>
          <a:xfrm>
            <a:off x="1969879" y="4448153"/>
            <a:ext cx="2346089" cy="53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latin typeface="+mj-lt"/>
              </a:rPr>
              <a:t>- NON STERILE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91BD36B-ECCF-4974-A753-8C08140E07E9}"/>
              </a:ext>
            </a:extLst>
          </p:cNvPr>
          <p:cNvCxnSpPr>
            <a:cxnSpLocks/>
          </p:cNvCxnSpPr>
          <p:nvPr/>
        </p:nvCxnSpPr>
        <p:spPr>
          <a:xfrm>
            <a:off x="329184" y="5522976"/>
            <a:ext cx="1475232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27D7AE04-49C0-466D-801E-7472FF75E703}"/>
              </a:ext>
            </a:extLst>
          </p:cNvPr>
          <p:cNvSpPr txBox="1">
            <a:spLocks/>
          </p:cNvSpPr>
          <p:nvPr/>
        </p:nvSpPr>
        <p:spPr>
          <a:xfrm>
            <a:off x="1969879" y="5252825"/>
            <a:ext cx="2821577" cy="11723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IN" dirty="0">
                <a:latin typeface="+mj-lt"/>
              </a:rPr>
              <a:t>EXPOSED TO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   CONTAMINATION 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DD99BFE-AA03-41C3-90D6-C714E3F5273E}"/>
              </a:ext>
            </a:extLst>
          </p:cNvPr>
          <p:cNvSpPr txBox="1"/>
          <p:nvPr/>
        </p:nvSpPr>
        <p:spPr>
          <a:xfrm>
            <a:off x="4396740" y="5425440"/>
            <a:ext cx="221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C00000"/>
                </a:solidFill>
              </a:rPr>
              <a:t>DOCTOR &amp; THEATRE</a:t>
            </a:r>
          </a:p>
          <a:p>
            <a:pPr algn="ctr"/>
            <a:r>
              <a:rPr lang="en-IN" sz="1200" dirty="0">
                <a:solidFill>
                  <a:srgbClr val="C00000"/>
                </a:solidFill>
              </a:rPr>
              <a:t>STAFF FLOW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E6C611-5EAC-48CC-99B3-DB7F54B072EE}"/>
              </a:ext>
            </a:extLst>
          </p:cNvPr>
          <p:cNvSpPr txBox="1"/>
          <p:nvPr/>
        </p:nvSpPr>
        <p:spPr>
          <a:xfrm>
            <a:off x="4396740" y="3017520"/>
            <a:ext cx="221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C00000"/>
                </a:solidFill>
              </a:rPr>
              <a:t>CSSD &amp; STERILE STORE</a:t>
            </a:r>
          </a:p>
          <a:p>
            <a:pPr algn="ctr"/>
            <a:r>
              <a:rPr lang="en-IN" sz="1200" dirty="0">
                <a:solidFill>
                  <a:srgbClr val="C00000"/>
                </a:solidFill>
              </a:rPr>
              <a:t>STAFF FLOW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3B356D1-90A1-4F4C-9646-72C16F8E3C43}"/>
              </a:ext>
            </a:extLst>
          </p:cNvPr>
          <p:cNvSpPr/>
          <p:nvPr/>
        </p:nvSpPr>
        <p:spPr>
          <a:xfrm>
            <a:off x="9194800" y="4762500"/>
            <a:ext cx="409575" cy="114300"/>
          </a:xfrm>
          <a:prstGeom prst="rect">
            <a:avLst/>
          </a:prstGeom>
          <a:solidFill>
            <a:srgbClr val="AFD996"/>
          </a:solidFill>
          <a:ln>
            <a:solidFill>
              <a:srgbClr val="AFD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9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0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90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5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10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1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20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2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35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45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5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650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8F9F099C-FE82-4E6B-B895-72CDEC931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610085"/>
              </p:ext>
            </p:extLst>
          </p:nvPr>
        </p:nvGraphicFramePr>
        <p:xfrm>
          <a:off x="5728211" y="0"/>
          <a:ext cx="969523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32098961" imgH="22707286" progId="AcroExch.Document.DC">
                  <p:embed/>
                </p:oleObj>
              </mc:Choice>
              <mc:Fallback>
                <p:oleObj name="Acrobat Document" r:id="rId2" imgW="32098961" imgH="22707286" progId="AcroExch.Document.DC">
                  <p:embed/>
                  <p:pic>
                    <p:nvPicPr>
                      <p:cNvPr id="68" name="Object 67">
                        <a:extLst>
                          <a:ext uri="{FF2B5EF4-FFF2-40B4-BE49-F238E27FC236}">
                            <a16:creationId xmlns:a16="http://schemas.microsoft.com/office/drawing/2014/main" id="{848F529E-FB23-43CA-B573-4A3CEA7C04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28211" y="0"/>
                        <a:ext cx="9695238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7D68EB02-F6A5-44D4-B5FB-EB4EA748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  PATIENT’S FLOW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618393-6762-48AF-B2E4-D18C011C11D4}"/>
              </a:ext>
            </a:extLst>
          </p:cNvPr>
          <p:cNvCxnSpPr>
            <a:cxnSpLocks/>
          </p:cNvCxnSpPr>
          <p:nvPr/>
        </p:nvCxnSpPr>
        <p:spPr>
          <a:xfrm>
            <a:off x="6217920" y="5876925"/>
            <a:ext cx="500063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54137A-270D-485B-B924-6AEEC2B0B0E5}"/>
              </a:ext>
            </a:extLst>
          </p:cNvPr>
          <p:cNvCxnSpPr>
            <a:cxnSpLocks/>
          </p:cNvCxnSpPr>
          <p:nvPr/>
        </p:nvCxnSpPr>
        <p:spPr>
          <a:xfrm>
            <a:off x="6937057" y="5876925"/>
            <a:ext cx="500063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8DDCEB-C9C8-4752-B5C1-C6E520E37ACE}"/>
              </a:ext>
            </a:extLst>
          </p:cNvPr>
          <p:cNvCxnSpPr>
            <a:cxnSpLocks/>
          </p:cNvCxnSpPr>
          <p:nvPr/>
        </p:nvCxnSpPr>
        <p:spPr>
          <a:xfrm>
            <a:off x="7656195" y="5876925"/>
            <a:ext cx="500063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FC2AFA0-2018-42C8-935A-AFB3B8F6A2B1}"/>
              </a:ext>
            </a:extLst>
          </p:cNvPr>
          <p:cNvCxnSpPr>
            <a:cxnSpLocks/>
          </p:cNvCxnSpPr>
          <p:nvPr/>
        </p:nvCxnSpPr>
        <p:spPr>
          <a:xfrm>
            <a:off x="8380094" y="5876925"/>
            <a:ext cx="500063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3E6E334-7F90-4143-8F3E-DC4A5CF621B6}"/>
              </a:ext>
            </a:extLst>
          </p:cNvPr>
          <p:cNvCxnSpPr>
            <a:cxnSpLocks/>
          </p:cNvCxnSpPr>
          <p:nvPr/>
        </p:nvCxnSpPr>
        <p:spPr>
          <a:xfrm>
            <a:off x="9099231" y="5876925"/>
            <a:ext cx="483681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ACFEBE-73DF-430E-AC4F-F4BADB13BCDB}"/>
              </a:ext>
            </a:extLst>
          </p:cNvPr>
          <p:cNvCxnSpPr>
            <a:cxnSpLocks/>
          </p:cNvCxnSpPr>
          <p:nvPr/>
        </p:nvCxnSpPr>
        <p:spPr>
          <a:xfrm flipV="1">
            <a:off x="9577864" y="5591175"/>
            <a:ext cx="0" cy="288133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6F11F6-08B8-41A8-AABB-BE26E664866D}"/>
              </a:ext>
            </a:extLst>
          </p:cNvPr>
          <p:cNvCxnSpPr>
            <a:cxnSpLocks/>
          </p:cNvCxnSpPr>
          <p:nvPr/>
        </p:nvCxnSpPr>
        <p:spPr>
          <a:xfrm rot="16200000">
            <a:off x="9327834" y="4400549"/>
            <a:ext cx="500063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F05C1C-DE60-4BCD-8AA2-A2C58125362C}"/>
              </a:ext>
            </a:extLst>
          </p:cNvPr>
          <p:cNvCxnSpPr>
            <a:cxnSpLocks/>
          </p:cNvCxnSpPr>
          <p:nvPr/>
        </p:nvCxnSpPr>
        <p:spPr>
          <a:xfrm rot="16200000">
            <a:off x="9327835" y="3671886"/>
            <a:ext cx="500063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C3BE66-C4F0-4133-A8C5-12F5541321C9}"/>
              </a:ext>
            </a:extLst>
          </p:cNvPr>
          <p:cNvCxnSpPr>
            <a:cxnSpLocks/>
          </p:cNvCxnSpPr>
          <p:nvPr/>
        </p:nvCxnSpPr>
        <p:spPr>
          <a:xfrm rot="16200000">
            <a:off x="8486778" y="3176586"/>
            <a:ext cx="500063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63CB55-67F5-444B-9118-E2F797ADAFEF}"/>
              </a:ext>
            </a:extLst>
          </p:cNvPr>
          <p:cNvCxnSpPr>
            <a:cxnSpLocks/>
          </p:cNvCxnSpPr>
          <p:nvPr/>
        </p:nvCxnSpPr>
        <p:spPr>
          <a:xfrm rot="16200000">
            <a:off x="8486779" y="2476498"/>
            <a:ext cx="500063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0351E02-6C01-4385-8ACC-8C04F80BB8E1}"/>
              </a:ext>
            </a:extLst>
          </p:cNvPr>
          <p:cNvCxnSpPr>
            <a:cxnSpLocks/>
          </p:cNvCxnSpPr>
          <p:nvPr/>
        </p:nvCxnSpPr>
        <p:spPr>
          <a:xfrm rot="16200000">
            <a:off x="10387016" y="3176586"/>
            <a:ext cx="500063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0777EF-E8F5-4FCE-91D8-B10FD71D5A06}"/>
              </a:ext>
            </a:extLst>
          </p:cNvPr>
          <p:cNvCxnSpPr>
            <a:cxnSpLocks/>
          </p:cNvCxnSpPr>
          <p:nvPr/>
        </p:nvCxnSpPr>
        <p:spPr>
          <a:xfrm rot="16200000">
            <a:off x="10387017" y="2476498"/>
            <a:ext cx="500063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38CCC62-EAC5-4FFA-9492-C8A34E3A1AAD}"/>
              </a:ext>
            </a:extLst>
          </p:cNvPr>
          <p:cNvCxnSpPr>
            <a:cxnSpLocks/>
          </p:cNvCxnSpPr>
          <p:nvPr/>
        </p:nvCxnSpPr>
        <p:spPr>
          <a:xfrm flipH="1">
            <a:off x="8729667" y="3424236"/>
            <a:ext cx="233358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129CBB-EE0A-4D5D-88C8-1D4417FF01D6}"/>
              </a:ext>
            </a:extLst>
          </p:cNvPr>
          <p:cNvCxnSpPr>
            <a:cxnSpLocks/>
          </p:cNvCxnSpPr>
          <p:nvPr/>
        </p:nvCxnSpPr>
        <p:spPr>
          <a:xfrm flipH="1">
            <a:off x="9196394" y="3424236"/>
            <a:ext cx="957256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50B68C-8E2D-4636-8404-33B2027B509E}"/>
              </a:ext>
            </a:extLst>
          </p:cNvPr>
          <p:cNvCxnSpPr>
            <a:cxnSpLocks/>
          </p:cNvCxnSpPr>
          <p:nvPr/>
        </p:nvCxnSpPr>
        <p:spPr>
          <a:xfrm flipH="1">
            <a:off x="10410825" y="3424236"/>
            <a:ext cx="238126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043854-1F26-417B-9C84-C621DA51CCE1}"/>
              </a:ext>
            </a:extLst>
          </p:cNvPr>
          <p:cNvCxnSpPr>
            <a:cxnSpLocks/>
          </p:cNvCxnSpPr>
          <p:nvPr/>
        </p:nvCxnSpPr>
        <p:spPr>
          <a:xfrm>
            <a:off x="5486400" y="5876925"/>
            <a:ext cx="500063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5768D185-1E31-45D8-8EAB-D73D059CF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535" y="1707079"/>
            <a:ext cx="11509829" cy="2519575"/>
          </a:xfrm>
        </p:spPr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PATIENT’S FLOW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   PRE SURGERY</a:t>
            </a: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F113F3-FEB5-49EA-B41E-8A1363B07F66}"/>
              </a:ext>
            </a:extLst>
          </p:cNvPr>
          <p:cNvCxnSpPr>
            <a:cxnSpLocks/>
          </p:cNvCxnSpPr>
          <p:nvPr/>
        </p:nvCxnSpPr>
        <p:spPr>
          <a:xfrm>
            <a:off x="329184" y="3828288"/>
            <a:ext cx="1475232" cy="0"/>
          </a:xfrm>
          <a:prstGeom prst="straightConnector1">
            <a:avLst/>
          </a:prstGeom>
          <a:ln w="762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FA568AA-CE3B-4585-BB64-14A873EAB3D9}"/>
              </a:ext>
            </a:extLst>
          </p:cNvPr>
          <p:cNvSpPr txBox="1">
            <a:spLocks/>
          </p:cNvSpPr>
          <p:nvPr/>
        </p:nvSpPr>
        <p:spPr>
          <a:xfrm>
            <a:off x="1969879" y="3558137"/>
            <a:ext cx="2346089" cy="53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latin typeface="+mj-lt"/>
              </a:rPr>
              <a:t>- STERILE</a:t>
            </a: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3A0E36E-B348-4662-8528-8AF7EAB2EE8F}"/>
              </a:ext>
            </a:extLst>
          </p:cNvPr>
          <p:cNvCxnSpPr>
            <a:cxnSpLocks/>
          </p:cNvCxnSpPr>
          <p:nvPr/>
        </p:nvCxnSpPr>
        <p:spPr>
          <a:xfrm>
            <a:off x="329184" y="4718304"/>
            <a:ext cx="1475232" cy="0"/>
          </a:xfrm>
          <a:prstGeom prst="straightConnector1">
            <a:avLst/>
          </a:prstGeom>
          <a:ln w="76200">
            <a:solidFill>
              <a:srgbClr val="FFFF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B3537C2C-6076-49BF-922C-937CA87868E7}"/>
              </a:ext>
            </a:extLst>
          </p:cNvPr>
          <p:cNvSpPr txBox="1">
            <a:spLocks/>
          </p:cNvSpPr>
          <p:nvPr/>
        </p:nvSpPr>
        <p:spPr>
          <a:xfrm>
            <a:off x="1969879" y="4448153"/>
            <a:ext cx="2346089" cy="53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latin typeface="+mj-lt"/>
              </a:rPr>
              <a:t>- NON STERILE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7894700-CD53-47C5-B8B8-1FCA60C2A22C}"/>
              </a:ext>
            </a:extLst>
          </p:cNvPr>
          <p:cNvCxnSpPr>
            <a:cxnSpLocks/>
          </p:cNvCxnSpPr>
          <p:nvPr/>
        </p:nvCxnSpPr>
        <p:spPr>
          <a:xfrm>
            <a:off x="329184" y="5522976"/>
            <a:ext cx="1475232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0732F3D2-896C-4B62-8D8E-3645AE9827A5}"/>
              </a:ext>
            </a:extLst>
          </p:cNvPr>
          <p:cNvSpPr txBox="1">
            <a:spLocks/>
          </p:cNvSpPr>
          <p:nvPr/>
        </p:nvSpPr>
        <p:spPr>
          <a:xfrm>
            <a:off x="1969879" y="5252825"/>
            <a:ext cx="2821577" cy="11723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IN" dirty="0">
                <a:latin typeface="+mj-lt"/>
              </a:rPr>
              <a:t>EXPOSED TO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   CONTAMINATION 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4EF36B0-9123-4F95-9C5C-9CA73914C709}"/>
              </a:ext>
            </a:extLst>
          </p:cNvPr>
          <p:cNvSpPr/>
          <p:nvPr/>
        </p:nvSpPr>
        <p:spPr>
          <a:xfrm>
            <a:off x="9185275" y="4778375"/>
            <a:ext cx="409575" cy="114300"/>
          </a:xfrm>
          <a:prstGeom prst="rect">
            <a:avLst/>
          </a:prstGeom>
          <a:solidFill>
            <a:srgbClr val="AFD996"/>
          </a:solidFill>
          <a:ln>
            <a:solidFill>
              <a:srgbClr val="AFD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C830B7-61B7-48BD-995E-804DDAF4F9FF}"/>
              </a:ext>
            </a:extLst>
          </p:cNvPr>
          <p:cNvCxnSpPr>
            <a:cxnSpLocks/>
          </p:cNvCxnSpPr>
          <p:nvPr/>
        </p:nvCxnSpPr>
        <p:spPr>
          <a:xfrm rot="16200000">
            <a:off x="9327833" y="5119702"/>
            <a:ext cx="500063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09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8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1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635F5252-0EA7-4626-9A8F-04CAF13C6A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610085"/>
              </p:ext>
            </p:extLst>
          </p:nvPr>
        </p:nvGraphicFramePr>
        <p:xfrm>
          <a:off x="5728211" y="0"/>
          <a:ext cx="969523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32098961" imgH="22707286" progId="AcroExch.Document.DC">
                  <p:embed/>
                </p:oleObj>
              </mc:Choice>
              <mc:Fallback>
                <p:oleObj name="Acrobat Document" r:id="rId2" imgW="32098961" imgH="22707286" progId="AcroExch.Document.DC">
                  <p:embed/>
                  <p:pic>
                    <p:nvPicPr>
                      <p:cNvPr id="68" name="Object 67">
                        <a:extLst>
                          <a:ext uri="{FF2B5EF4-FFF2-40B4-BE49-F238E27FC236}">
                            <a16:creationId xmlns:a16="http://schemas.microsoft.com/office/drawing/2014/main" id="{848F529E-FB23-43CA-B573-4A3CEA7C04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28211" y="0"/>
                        <a:ext cx="9695238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7D68EB02-F6A5-44D4-B5FB-EB4EA748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  PATIENT’S FLOW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618393-6762-48AF-B2E4-D18C011C11D4}"/>
              </a:ext>
            </a:extLst>
          </p:cNvPr>
          <p:cNvCxnSpPr>
            <a:cxnSpLocks/>
          </p:cNvCxnSpPr>
          <p:nvPr/>
        </p:nvCxnSpPr>
        <p:spPr>
          <a:xfrm flipH="1">
            <a:off x="6217920" y="5876925"/>
            <a:ext cx="500063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54137A-270D-485B-B924-6AEEC2B0B0E5}"/>
              </a:ext>
            </a:extLst>
          </p:cNvPr>
          <p:cNvCxnSpPr>
            <a:cxnSpLocks/>
          </p:cNvCxnSpPr>
          <p:nvPr/>
        </p:nvCxnSpPr>
        <p:spPr>
          <a:xfrm flipH="1">
            <a:off x="6937057" y="5876925"/>
            <a:ext cx="500063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8DDCEB-C9C8-4752-B5C1-C6E520E37ACE}"/>
              </a:ext>
            </a:extLst>
          </p:cNvPr>
          <p:cNvCxnSpPr>
            <a:cxnSpLocks/>
          </p:cNvCxnSpPr>
          <p:nvPr/>
        </p:nvCxnSpPr>
        <p:spPr>
          <a:xfrm flipH="1">
            <a:off x="7656195" y="5876925"/>
            <a:ext cx="500063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FC2AFA0-2018-42C8-935A-AFB3B8F6A2B1}"/>
              </a:ext>
            </a:extLst>
          </p:cNvPr>
          <p:cNvCxnSpPr>
            <a:cxnSpLocks/>
          </p:cNvCxnSpPr>
          <p:nvPr/>
        </p:nvCxnSpPr>
        <p:spPr>
          <a:xfrm flipH="1">
            <a:off x="8380094" y="5876925"/>
            <a:ext cx="500063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3E6E334-7F90-4143-8F3E-DC4A5CF621B6}"/>
              </a:ext>
            </a:extLst>
          </p:cNvPr>
          <p:cNvCxnSpPr>
            <a:cxnSpLocks/>
          </p:cNvCxnSpPr>
          <p:nvPr/>
        </p:nvCxnSpPr>
        <p:spPr>
          <a:xfrm>
            <a:off x="9099231" y="5876925"/>
            <a:ext cx="495873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ACFEBE-73DF-430E-AC4F-F4BADB13BCDB}"/>
              </a:ext>
            </a:extLst>
          </p:cNvPr>
          <p:cNvCxnSpPr>
            <a:cxnSpLocks/>
          </p:cNvCxnSpPr>
          <p:nvPr/>
        </p:nvCxnSpPr>
        <p:spPr>
          <a:xfrm flipV="1">
            <a:off x="9577864" y="5591175"/>
            <a:ext cx="0" cy="288133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6F11F6-08B8-41A8-AABB-BE26E664866D}"/>
              </a:ext>
            </a:extLst>
          </p:cNvPr>
          <p:cNvCxnSpPr>
            <a:cxnSpLocks/>
          </p:cNvCxnSpPr>
          <p:nvPr/>
        </p:nvCxnSpPr>
        <p:spPr>
          <a:xfrm rot="16200000">
            <a:off x="9327834" y="4400549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F05C1C-DE60-4BCD-8AA2-A2C58125362C}"/>
              </a:ext>
            </a:extLst>
          </p:cNvPr>
          <p:cNvCxnSpPr>
            <a:cxnSpLocks/>
          </p:cNvCxnSpPr>
          <p:nvPr/>
        </p:nvCxnSpPr>
        <p:spPr>
          <a:xfrm rot="16200000">
            <a:off x="9327835" y="3671886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C3BE66-C4F0-4133-A8C5-12F5541321C9}"/>
              </a:ext>
            </a:extLst>
          </p:cNvPr>
          <p:cNvCxnSpPr>
            <a:cxnSpLocks/>
          </p:cNvCxnSpPr>
          <p:nvPr/>
        </p:nvCxnSpPr>
        <p:spPr>
          <a:xfrm rot="5400000" flipV="1">
            <a:off x="8486778" y="3176586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63CB55-67F5-444B-9118-E2F797ADAFEF}"/>
              </a:ext>
            </a:extLst>
          </p:cNvPr>
          <p:cNvCxnSpPr>
            <a:cxnSpLocks/>
          </p:cNvCxnSpPr>
          <p:nvPr/>
        </p:nvCxnSpPr>
        <p:spPr>
          <a:xfrm rot="5400000" flipV="1">
            <a:off x="8486779" y="2476498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0351E02-6C01-4385-8ACC-8C04F80BB8E1}"/>
              </a:ext>
            </a:extLst>
          </p:cNvPr>
          <p:cNvCxnSpPr>
            <a:cxnSpLocks/>
          </p:cNvCxnSpPr>
          <p:nvPr/>
        </p:nvCxnSpPr>
        <p:spPr>
          <a:xfrm rot="5400000" flipV="1">
            <a:off x="10387016" y="3176586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0777EF-E8F5-4FCE-91D8-B10FD71D5A06}"/>
              </a:ext>
            </a:extLst>
          </p:cNvPr>
          <p:cNvCxnSpPr>
            <a:cxnSpLocks/>
          </p:cNvCxnSpPr>
          <p:nvPr/>
        </p:nvCxnSpPr>
        <p:spPr>
          <a:xfrm rot="5400000" flipV="1">
            <a:off x="10387017" y="2476498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129CBB-EE0A-4D5D-88C8-1D4417FF01D6}"/>
              </a:ext>
            </a:extLst>
          </p:cNvPr>
          <p:cNvCxnSpPr>
            <a:cxnSpLocks/>
          </p:cNvCxnSpPr>
          <p:nvPr/>
        </p:nvCxnSpPr>
        <p:spPr>
          <a:xfrm flipH="1">
            <a:off x="8740140" y="3424236"/>
            <a:ext cx="1889760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043854-1F26-417B-9C84-C621DA51CCE1}"/>
              </a:ext>
            </a:extLst>
          </p:cNvPr>
          <p:cNvCxnSpPr>
            <a:cxnSpLocks/>
          </p:cNvCxnSpPr>
          <p:nvPr/>
        </p:nvCxnSpPr>
        <p:spPr>
          <a:xfrm flipH="1">
            <a:off x="5486400" y="5876925"/>
            <a:ext cx="500063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63E1B3-F50F-476C-B27A-E135A8F4A874}"/>
              </a:ext>
            </a:extLst>
          </p:cNvPr>
          <p:cNvCxnSpPr>
            <a:cxnSpLocks/>
          </p:cNvCxnSpPr>
          <p:nvPr/>
        </p:nvCxnSpPr>
        <p:spPr>
          <a:xfrm rot="5400000" flipV="1">
            <a:off x="8486780" y="1732786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063E22-EAC2-445F-886A-2D2F9B0C8687}"/>
              </a:ext>
            </a:extLst>
          </p:cNvPr>
          <p:cNvCxnSpPr>
            <a:cxnSpLocks/>
          </p:cNvCxnSpPr>
          <p:nvPr/>
        </p:nvCxnSpPr>
        <p:spPr>
          <a:xfrm rot="5400000" flipV="1">
            <a:off x="10387018" y="1732786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F0508CCC-2FB6-4BCC-9CDB-9CC9583EA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535" y="1707079"/>
            <a:ext cx="11509829" cy="2519575"/>
          </a:xfrm>
        </p:spPr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PATIENT’S FLOW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   POST SURGERY</a:t>
            </a: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46C8203-39C9-46A1-B8F3-6DB1DF24D1D7}"/>
              </a:ext>
            </a:extLst>
          </p:cNvPr>
          <p:cNvCxnSpPr>
            <a:cxnSpLocks/>
          </p:cNvCxnSpPr>
          <p:nvPr/>
        </p:nvCxnSpPr>
        <p:spPr>
          <a:xfrm>
            <a:off x="329184" y="3828288"/>
            <a:ext cx="1475232" cy="0"/>
          </a:xfrm>
          <a:prstGeom prst="straightConnector1">
            <a:avLst/>
          </a:prstGeom>
          <a:ln w="762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7DEC3BCE-C196-4D34-9BA1-4E1E8DCFF1F9}"/>
              </a:ext>
            </a:extLst>
          </p:cNvPr>
          <p:cNvSpPr txBox="1">
            <a:spLocks/>
          </p:cNvSpPr>
          <p:nvPr/>
        </p:nvSpPr>
        <p:spPr>
          <a:xfrm>
            <a:off x="1969879" y="3558137"/>
            <a:ext cx="2346089" cy="53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latin typeface="+mj-lt"/>
              </a:rPr>
              <a:t>- STERILE</a:t>
            </a: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880D31A-B80A-4265-92E4-E820E51BA53D}"/>
              </a:ext>
            </a:extLst>
          </p:cNvPr>
          <p:cNvCxnSpPr>
            <a:cxnSpLocks/>
          </p:cNvCxnSpPr>
          <p:nvPr/>
        </p:nvCxnSpPr>
        <p:spPr>
          <a:xfrm>
            <a:off x="329184" y="4718304"/>
            <a:ext cx="1475232" cy="0"/>
          </a:xfrm>
          <a:prstGeom prst="straightConnector1">
            <a:avLst/>
          </a:prstGeom>
          <a:ln w="76200">
            <a:solidFill>
              <a:srgbClr val="FFFF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89E8E2F6-97DA-4EE9-A889-5D059C74D563}"/>
              </a:ext>
            </a:extLst>
          </p:cNvPr>
          <p:cNvSpPr txBox="1">
            <a:spLocks/>
          </p:cNvSpPr>
          <p:nvPr/>
        </p:nvSpPr>
        <p:spPr>
          <a:xfrm>
            <a:off x="1969879" y="4448153"/>
            <a:ext cx="2346089" cy="53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latin typeface="+mj-lt"/>
              </a:rPr>
              <a:t>- NON STERILE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9C406D-8D3A-4770-86E0-579DD15D8DE6}"/>
              </a:ext>
            </a:extLst>
          </p:cNvPr>
          <p:cNvCxnSpPr>
            <a:cxnSpLocks/>
          </p:cNvCxnSpPr>
          <p:nvPr/>
        </p:nvCxnSpPr>
        <p:spPr>
          <a:xfrm>
            <a:off x="329184" y="5522976"/>
            <a:ext cx="1475232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F7FD0BC1-E6F4-46C3-B6BD-37278FB29CB0}"/>
              </a:ext>
            </a:extLst>
          </p:cNvPr>
          <p:cNvSpPr txBox="1">
            <a:spLocks/>
          </p:cNvSpPr>
          <p:nvPr/>
        </p:nvSpPr>
        <p:spPr>
          <a:xfrm>
            <a:off x="1969879" y="5252825"/>
            <a:ext cx="2821577" cy="11723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IN" dirty="0">
                <a:latin typeface="+mj-lt"/>
              </a:rPr>
              <a:t>EXPOSED TO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   CONTAMINATION 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A6FEBF1-2BCE-407F-96FA-5FDF61EC18AA}"/>
              </a:ext>
            </a:extLst>
          </p:cNvPr>
          <p:cNvCxnSpPr>
            <a:cxnSpLocks/>
          </p:cNvCxnSpPr>
          <p:nvPr/>
        </p:nvCxnSpPr>
        <p:spPr>
          <a:xfrm flipH="1">
            <a:off x="8504879" y="3421379"/>
            <a:ext cx="227641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AA6A48C-7E3E-4FD5-929C-7EE3AFC312C7}"/>
              </a:ext>
            </a:extLst>
          </p:cNvPr>
          <p:cNvCxnSpPr>
            <a:cxnSpLocks/>
          </p:cNvCxnSpPr>
          <p:nvPr/>
        </p:nvCxnSpPr>
        <p:spPr>
          <a:xfrm rot="10800000" flipV="1">
            <a:off x="7720018" y="3421379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FC855E7-BF3B-44EF-830B-B38BC29C368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866578" y="3421379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FE28877-09C3-4EA3-AAD6-748E720A13E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65538" y="3421379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0BEFA8E-213C-4E3B-8BFE-C355CC4B81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17838" y="3421379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C3601C7-AF5B-4FB3-9005-2E54A8913742}"/>
              </a:ext>
            </a:extLst>
          </p:cNvPr>
          <p:cNvSpPr txBox="1"/>
          <p:nvPr/>
        </p:nvSpPr>
        <p:spPr>
          <a:xfrm>
            <a:off x="9140190" y="3922395"/>
            <a:ext cx="221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C00000"/>
                </a:solidFill>
              </a:rPr>
              <a:t>PATIENTS NEEDING</a:t>
            </a:r>
          </a:p>
          <a:p>
            <a:pPr algn="ctr"/>
            <a:r>
              <a:rPr lang="en-IN" sz="1200" dirty="0">
                <a:solidFill>
                  <a:srgbClr val="C00000"/>
                </a:solidFill>
              </a:rPr>
              <a:t>RECOVERY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56E0295-2F94-4B80-A06A-11CAF26C41C8}"/>
              </a:ext>
            </a:extLst>
          </p:cNvPr>
          <p:cNvSpPr/>
          <p:nvPr/>
        </p:nvSpPr>
        <p:spPr>
          <a:xfrm>
            <a:off x="9194800" y="4762500"/>
            <a:ext cx="409575" cy="114300"/>
          </a:xfrm>
          <a:prstGeom prst="rect">
            <a:avLst/>
          </a:prstGeom>
          <a:solidFill>
            <a:srgbClr val="AFD996"/>
          </a:solidFill>
          <a:ln>
            <a:solidFill>
              <a:srgbClr val="AFD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C830B7-61B7-48BD-995E-804DDAF4F9FF}"/>
              </a:ext>
            </a:extLst>
          </p:cNvPr>
          <p:cNvCxnSpPr>
            <a:cxnSpLocks/>
          </p:cNvCxnSpPr>
          <p:nvPr/>
        </p:nvCxnSpPr>
        <p:spPr>
          <a:xfrm rot="16200000">
            <a:off x="9327833" y="5119702"/>
            <a:ext cx="500063" cy="0"/>
          </a:xfrm>
          <a:prstGeom prst="straightConnector1">
            <a:avLst/>
          </a:prstGeom>
          <a:ln w="31750">
            <a:solidFill>
              <a:srgbClr val="FFFF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772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F2CF004A-BB5B-45AF-AD5D-599FDEAC8C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610085"/>
              </p:ext>
            </p:extLst>
          </p:nvPr>
        </p:nvGraphicFramePr>
        <p:xfrm>
          <a:off x="5728211" y="0"/>
          <a:ext cx="969523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32098961" imgH="22707286" progId="AcroExch.Document.DC">
                  <p:embed/>
                </p:oleObj>
              </mc:Choice>
              <mc:Fallback>
                <p:oleObj name="Acrobat Document" r:id="rId2" imgW="32098961" imgH="22707286" progId="AcroExch.Document.DC">
                  <p:embed/>
                  <p:pic>
                    <p:nvPicPr>
                      <p:cNvPr id="68" name="Object 67">
                        <a:extLst>
                          <a:ext uri="{FF2B5EF4-FFF2-40B4-BE49-F238E27FC236}">
                            <a16:creationId xmlns:a16="http://schemas.microsoft.com/office/drawing/2014/main" id="{848F529E-FB23-43CA-B573-4A3CEA7C04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28211" y="0"/>
                        <a:ext cx="9695238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7D68EB02-F6A5-44D4-B5FB-EB4EA748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0"/>
            <a:ext cx="5705856" cy="1325563"/>
          </a:xfrm>
        </p:spPr>
        <p:txBody>
          <a:bodyPr/>
          <a:lstStyle/>
          <a:p>
            <a:r>
              <a:rPr lang="en-IN" dirty="0"/>
              <a:t>STERILE &amp; SOILED ITEMS </a:t>
            </a:r>
            <a:br>
              <a:rPr lang="en-IN" dirty="0"/>
            </a:br>
            <a:r>
              <a:rPr lang="en-IN" dirty="0"/>
              <a:t>FLOW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17C45CC-4965-464F-862C-7A9707D35E94}"/>
              </a:ext>
            </a:extLst>
          </p:cNvPr>
          <p:cNvCxnSpPr>
            <a:cxnSpLocks/>
          </p:cNvCxnSpPr>
          <p:nvPr/>
        </p:nvCxnSpPr>
        <p:spPr>
          <a:xfrm>
            <a:off x="8736810" y="2741931"/>
            <a:ext cx="2" cy="755652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E64309A-12DF-446F-A726-3872E99523E8}"/>
              </a:ext>
            </a:extLst>
          </p:cNvPr>
          <p:cNvCxnSpPr>
            <a:cxnSpLocks/>
          </p:cNvCxnSpPr>
          <p:nvPr/>
        </p:nvCxnSpPr>
        <p:spPr>
          <a:xfrm rot="5400000" flipV="1">
            <a:off x="8486779" y="2291875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8B5BB3F-F7FB-4BC4-BC17-1C9417F50C68}"/>
              </a:ext>
            </a:extLst>
          </p:cNvPr>
          <p:cNvCxnSpPr>
            <a:cxnSpLocks/>
          </p:cNvCxnSpPr>
          <p:nvPr/>
        </p:nvCxnSpPr>
        <p:spPr>
          <a:xfrm>
            <a:off x="10637048" y="2774631"/>
            <a:ext cx="0" cy="473393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F1FA03D-9013-4244-953D-D9448D7545D3}"/>
              </a:ext>
            </a:extLst>
          </p:cNvPr>
          <p:cNvCxnSpPr>
            <a:cxnSpLocks/>
          </p:cNvCxnSpPr>
          <p:nvPr/>
        </p:nvCxnSpPr>
        <p:spPr>
          <a:xfrm rot="5400000" flipV="1">
            <a:off x="10387017" y="2291875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6A99867-083A-44DA-B3A0-04C6D0D77B93}"/>
              </a:ext>
            </a:extLst>
          </p:cNvPr>
          <p:cNvCxnSpPr>
            <a:cxnSpLocks/>
          </p:cNvCxnSpPr>
          <p:nvPr/>
        </p:nvCxnSpPr>
        <p:spPr>
          <a:xfrm>
            <a:off x="10081260" y="3242470"/>
            <a:ext cx="558640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375FBE8-2880-4A01-83A1-EC19401EE712}"/>
              </a:ext>
            </a:extLst>
          </p:cNvPr>
          <p:cNvCxnSpPr>
            <a:cxnSpLocks/>
          </p:cNvCxnSpPr>
          <p:nvPr/>
        </p:nvCxnSpPr>
        <p:spPr>
          <a:xfrm flipH="1">
            <a:off x="9426418" y="3245328"/>
            <a:ext cx="546256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F3BD3C5-CDE5-4BCA-BD11-D3742995F6CF}"/>
              </a:ext>
            </a:extLst>
          </p:cNvPr>
          <p:cNvCxnSpPr>
            <a:cxnSpLocks/>
          </p:cNvCxnSpPr>
          <p:nvPr/>
        </p:nvCxnSpPr>
        <p:spPr>
          <a:xfrm>
            <a:off x="8570467" y="489110"/>
            <a:ext cx="0" cy="215743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E44C23-ED6F-4C89-B4E6-B6B515303418}"/>
              </a:ext>
            </a:extLst>
          </p:cNvPr>
          <p:cNvCxnSpPr>
            <a:cxnSpLocks/>
          </p:cNvCxnSpPr>
          <p:nvPr/>
        </p:nvCxnSpPr>
        <p:spPr>
          <a:xfrm>
            <a:off x="10475469" y="489112"/>
            <a:ext cx="0" cy="234791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CD01F1F-8B40-4A16-A449-780112AE989C}"/>
              </a:ext>
            </a:extLst>
          </p:cNvPr>
          <p:cNvCxnSpPr>
            <a:cxnSpLocks/>
          </p:cNvCxnSpPr>
          <p:nvPr/>
        </p:nvCxnSpPr>
        <p:spPr>
          <a:xfrm flipH="1">
            <a:off x="10169209" y="489745"/>
            <a:ext cx="301941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75520DB-1DF0-44C7-AB07-C00510F61CF1}"/>
              </a:ext>
            </a:extLst>
          </p:cNvPr>
          <p:cNvCxnSpPr>
            <a:cxnSpLocks/>
          </p:cNvCxnSpPr>
          <p:nvPr/>
        </p:nvCxnSpPr>
        <p:spPr>
          <a:xfrm flipH="1">
            <a:off x="9559925" y="489745"/>
            <a:ext cx="439421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3FF156C-C6F8-4EDC-B96D-FD4EC6B90868}"/>
              </a:ext>
            </a:extLst>
          </p:cNvPr>
          <p:cNvCxnSpPr>
            <a:cxnSpLocks/>
          </p:cNvCxnSpPr>
          <p:nvPr/>
        </p:nvCxnSpPr>
        <p:spPr>
          <a:xfrm flipH="1">
            <a:off x="8969375" y="489745"/>
            <a:ext cx="439421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11F77E4-805D-4C31-855E-CA46BD457151}"/>
              </a:ext>
            </a:extLst>
          </p:cNvPr>
          <p:cNvCxnSpPr>
            <a:cxnSpLocks/>
          </p:cNvCxnSpPr>
          <p:nvPr/>
        </p:nvCxnSpPr>
        <p:spPr>
          <a:xfrm flipH="1">
            <a:off x="8378825" y="489745"/>
            <a:ext cx="439421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DA16916-98F5-49B4-AB03-1219DB35DC25}"/>
              </a:ext>
            </a:extLst>
          </p:cNvPr>
          <p:cNvCxnSpPr>
            <a:cxnSpLocks/>
          </p:cNvCxnSpPr>
          <p:nvPr/>
        </p:nvCxnSpPr>
        <p:spPr>
          <a:xfrm>
            <a:off x="8570467" y="784225"/>
            <a:ext cx="0" cy="320675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EB12327-EE85-4F7D-9404-B3574909476D}"/>
              </a:ext>
            </a:extLst>
          </p:cNvPr>
          <p:cNvCxnSpPr>
            <a:cxnSpLocks/>
          </p:cNvCxnSpPr>
          <p:nvPr/>
        </p:nvCxnSpPr>
        <p:spPr>
          <a:xfrm>
            <a:off x="10475469" y="790575"/>
            <a:ext cx="0" cy="314325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3D908B5-6A41-4409-8218-7779734EC836}"/>
              </a:ext>
            </a:extLst>
          </p:cNvPr>
          <p:cNvCxnSpPr>
            <a:cxnSpLocks/>
          </p:cNvCxnSpPr>
          <p:nvPr/>
        </p:nvCxnSpPr>
        <p:spPr>
          <a:xfrm flipH="1">
            <a:off x="8750144" y="3245328"/>
            <a:ext cx="523396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318A08E-6340-4C69-A7FE-4EBAD88B4BEE}"/>
              </a:ext>
            </a:extLst>
          </p:cNvPr>
          <p:cNvCxnSpPr>
            <a:cxnSpLocks/>
          </p:cNvCxnSpPr>
          <p:nvPr/>
        </p:nvCxnSpPr>
        <p:spPr>
          <a:xfrm flipH="1">
            <a:off x="7769225" y="489745"/>
            <a:ext cx="439421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E8DF3F9-55C8-4E80-8B16-06F0B93F2F28}"/>
              </a:ext>
            </a:extLst>
          </p:cNvPr>
          <p:cNvCxnSpPr>
            <a:cxnSpLocks/>
          </p:cNvCxnSpPr>
          <p:nvPr/>
        </p:nvCxnSpPr>
        <p:spPr>
          <a:xfrm>
            <a:off x="8183880" y="3501550"/>
            <a:ext cx="553404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F881B4E-48FB-4FBB-9732-44DE16F70D62}"/>
              </a:ext>
            </a:extLst>
          </p:cNvPr>
          <p:cNvCxnSpPr>
            <a:cxnSpLocks/>
          </p:cNvCxnSpPr>
          <p:nvPr/>
        </p:nvCxnSpPr>
        <p:spPr>
          <a:xfrm>
            <a:off x="7490460" y="3501550"/>
            <a:ext cx="553404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777A984-D510-4774-8993-1F1E2CE24626}"/>
              </a:ext>
            </a:extLst>
          </p:cNvPr>
          <p:cNvCxnSpPr>
            <a:cxnSpLocks/>
          </p:cNvCxnSpPr>
          <p:nvPr/>
        </p:nvCxnSpPr>
        <p:spPr>
          <a:xfrm>
            <a:off x="6727825" y="3501550"/>
            <a:ext cx="538799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81CE2C8-5316-451E-83E6-D218A5CB922C}"/>
              </a:ext>
            </a:extLst>
          </p:cNvPr>
          <p:cNvCxnSpPr>
            <a:cxnSpLocks/>
          </p:cNvCxnSpPr>
          <p:nvPr/>
        </p:nvCxnSpPr>
        <p:spPr>
          <a:xfrm>
            <a:off x="6726397" y="2825750"/>
            <a:ext cx="0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AF79504-B435-41AD-8E0B-C9919029D3AE}"/>
              </a:ext>
            </a:extLst>
          </p:cNvPr>
          <p:cNvCxnSpPr>
            <a:cxnSpLocks/>
          </p:cNvCxnSpPr>
          <p:nvPr/>
        </p:nvCxnSpPr>
        <p:spPr>
          <a:xfrm flipH="1">
            <a:off x="7165975" y="489745"/>
            <a:ext cx="439421" cy="0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C870852-78B4-49BA-8979-44B8E5BDD68E}"/>
              </a:ext>
            </a:extLst>
          </p:cNvPr>
          <p:cNvCxnSpPr>
            <a:cxnSpLocks/>
          </p:cNvCxnSpPr>
          <p:nvPr/>
        </p:nvCxnSpPr>
        <p:spPr>
          <a:xfrm flipH="1">
            <a:off x="6728460" y="2828450"/>
            <a:ext cx="472440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1A7EF40-F108-42C3-9657-78F2A2412A6A}"/>
              </a:ext>
            </a:extLst>
          </p:cNvPr>
          <p:cNvCxnSpPr>
            <a:cxnSpLocks/>
          </p:cNvCxnSpPr>
          <p:nvPr/>
        </p:nvCxnSpPr>
        <p:spPr>
          <a:xfrm rot="16200000">
            <a:off x="6956431" y="1421926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3FD09D0-4E9E-4CD8-BFF6-2966078A68DA}"/>
              </a:ext>
            </a:extLst>
          </p:cNvPr>
          <p:cNvCxnSpPr>
            <a:cxnSpLocks/>
          </p:cNvCxnSpPr>
          <p:nvPr/>
        </p:nvCxnSpPr>
        <p:spPr>
          <a:xfrm rot="16200000">
            <a:off x="7464432" y="1421926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DF3D2CA-C844-4DF9-BA7D-454222608FAA}"/>
              </a:ext>
            </a:extLst>
          </p:cNvPr>
          <p:cNvCxnSpPr>
            <a:cxnSpLocks/>
          </p:cNvCxnSpPr>
          <p:nvPr/>
        </p:nvCxnSpPr>
        <p:spPr>
          <a:xfrm rot="16200000">
            <a:off x="6956432" y="2101376"/>
            <a:ext cx="500063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C5B034-8C6B-4577-887E-772994F4C0AA}"/>
              </a:ext>
            </a:extLst>
          </p:cNvPr>
          <p:cNvCxnSpPr>
            <a:cxnSpLocks/>
          </p:cNvCxnSpPr>
          <p:nvPr/>
        </p:nvCxnSpPr>
        <p:spPr>
          <a:xfrm flipV="1">
            <a:off x="7219164" y="2499046"/>
            <a:ext cx="0" cy="339404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8DDBA12-E335-440B-A8B3-89F882A47C7A}"/>
              </a:ext>
            </a:extLst>
          </p:cNvPr>
          <p:cNvCxnSpPr>
            <a:cxnSpLocks/>
          </p:cNvCxnSpPr>
          <p:nvPr/>
        </p:nvCxnSpPr>
        <p:spPr>
          <a:xfrm>
            <a:off x="7194550" y="1695450"/>
            <a:ext cx="533400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746CC6F-9470-4624-AA33-92AAFB92C110}"/>
              </a:ext>
            </a:extLst>
          </p:cNvPr>
          <p:cNvCxnSpPr>
            <a:cxnSpLocks/>
          </p:cNvCxnSpPr>
          <p:nvPr/>
        </p:nvCxnSpPr>
        <p:spPr>
          <a:xfrm flipV="1">
            <a:off x="7206464" y="755650"/>
            <a:ext cx="0" cy="319409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5214C44-1577-4A35-B4B8-489B7824FA35}"/>
              </a:ext>
            </a:extLst>
          </p:cNvPr>
          <p:cNvCxnSpPr>
            <a:cxnSpLocks/>
          </p:cNvCxnSpPr>
          <p:nvPr/>
        </p:nvCxnSpPr>
        <p:spPr>
          <a:xfrm flipV="1">
            <a:off x="7714465" y="749300"/>
            <a:ext cx="0" cy="32575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0D5271F8-6C80-44EE-A28E-9986AAB8F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535" y="1707079"/>
            <a:ext cx="11509829" cy="2519575"/>
          </a:xfrm>
        </p:spPr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STERILE ITEM FLOW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SOILED ITEM FLOW</a:t>
            </a: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016B21A-6D26-425F-A4E7-69B8292F78E2}"/>
              </a:ext>
            </a:extLst>
          </p:cNvPr>
          <p:cNvCxnSpPr>
            <a:cxnSpLocks/>
          </p:cNvCxnSpPr>
          <p:nvPr/>
        </p:nvCxnSpPr>
        <p:spPr>
          <a:xfrm>
            <a:off x="329184" y="4632960"/>
            <a:ext cx="1475232" cy="0"/>
          </a:xfrm>
          <a:prstGeom prst="straightConnector1">
            <a:avLst/>
          </a:prstGeom>
          <a:ln w="76200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BF0530D-EE41-4D97-A840-E6625A7423DC}"/>
              </a:ext>
            </a:extLst>
          </p:cNvPr>
          <p:cNvCxnSpPr>
            <a:cxnSpLocks/>
          </p:cNvCxnSpPr>
          <p:nvPr/>
        </p:nvCxnSpPr>
        <p:spPr>
          <a:xfrm>
            <a:off x="329184" y="5815584"/>
            <a:ext cx="1487424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132AE3CD-171A-452B-A7AE-D86979DB45EC}"/>
              </a:ext>
            </a:extLst>
          </p:cNvPr>
          <p:cNvSpPr txBox="1">
            <a:spLocks/>
          </p:cNvSpPr>
          <p:nvPr/>
        </p:nvSpPr>
        <p:spPr>
          <a:xfrm>
            <a:off x="1969879" y="4362809"/>
            <a:ext cx="11509829" cy="2519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latin typeface="+mj-lt"/>
              </a:rPr>
              <a:t>- STERILE ITEM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404702C5-DE7C-487D-BB53-9CF0F96270AD}"/>
              </a:ext>
            </a:extLst>
          </p:cNvPr>
          <p:cNvSpPr txBox="1">
            <a:spLocks/>
          </p:cNvSpPr>
          <p:nvPr/>
        </p:nvSpPr>
        <p:spPr>
          <a:xfrm>
            <a:off x="1969879" y="5573828"/>
            <a:ext cx="11509829" cy="2519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latin typeface="+mj-lt"/>
              </a:rPr>
              <a:t>- SOILED ITEM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+mj-lt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F2D74A2-95D1-480F-8AEE-2E9C0A492609}"/>
              </a:ext>
            </a:extLst>
          </p:cNvPr>
          <p:cNvSpPr/>
          <p:nvPr/>
        </p:nvSpPr>
        <p:spPr>
          <a:xfrm>
            <a:off x="9194800" y="4762500"/>
            <a:ext cx="409575" cy="114300"/>
          </a:xfrm>
          <a:prstGeom prst="rect">
            <a:avLst/>
          </a:prstGeom>
          <a:solidFill>
            <a:srgbClr val="AFD996"/>
          </a:solidFill>
          <a:ln>
            <a:solidFill>
              <a:srgbClr val="AFD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34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B917C-9456-4D2B-BCC3-462452C4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96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6000" dirty="0"/>
              <a:t>THANK YOU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26E84451-3958-4063-9869-8B31C08C4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775" y="4414188"/>
            <a:ext cx="2995583" cy="95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045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192</Words>
  <Application>Microsoft Office PowerPoint</Application>
  <PresentationFormat>Widescreen</PresentationFormat>
  <Paragraphs>126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Abadi</vt:lpstr>
      <vt:lpstr>Arial</vt:lpstr>
      <vt:lpstr>Calibri</vt:lpstr>
      <vt:lpstr>Calibri Light</vt:lpstr>
      <vt:lpstr>Office Theme</vt:lpstr>
      <vt:lpstr>Acrobat Document</vt:lpstr>
      <vt:lpstr>Operation Theatre Complex</vt:lpstr>
      <vt:lpstr>ZONING</vt:lpstr>
      <vt:lpstr>PLANING CONSIDERATIONS</vt:lpstr>
      <vt:lpstr>  DOCTOR’S / STAFF FLOW</vt:lpstr>
      <vt:lpstr>  DOCTOR’S / STAFF FLOW</vt:lpstr>
      <vt:lpstr>  PATIENT’S FLOW</vt:lpstr>
      <vt:lpstr>  PATIENT’S FLOW</vt:lpstr>
      <vt:lpstr>STERILE &amp; SOILED ITEMS  FLOW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 HOSPITAL  KESSI - KENYA</dc:title>
  <dc:creator>Design Collaborative</dc:creator>
  <cp:lastModifiedBy>Sasipriya</cp:lastModifiedBy>
  <cp:revision>53</cp:revision>
  <dcterms:created xsi:type="dcterms:W3CDTF">2020-11-18T06:35:13Z</dcterms:created>
  <dcterms:modified xsi:type="dcterms:W3CDTF">2021-07-28T07:56:33Z</dcterms:modified>
</cp:coreProperties>
</file>