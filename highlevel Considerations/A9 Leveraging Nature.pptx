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363" r:id="rId4"/>
    <p:sldId id="380" r:id="rId5"/>
    <p:sldId id="3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84" d="100"/>
          <a:sy n="84" d="100"/>
        </p:scale>
        <p:origin x="598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76246-72D4-4EDE-B8D6-B142734DE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D6FD0A-B42A-4DCC-AEAE-0DA2AC9137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BD946-B61F-419F-89FD-A0CA17F93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EF1D-DD9B-4CE1-A6BD-CB61C9036D3B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5BE99-CBE2-49BC-9FAF-6D672C160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95111-1BA4-44B4-A221-CAE5FB14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71D9-41FA-4354-A81F-47F07EB6D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6228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48079-9F12-44E3-AA56-BC11DF41C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29853-184C-4408-96A6-3546EC1FD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F1819-000E-49B5-976B-F4ABF16EC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EF1D-DD9B-4CE1-A6BD-CB61C9036D3B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E540E-EE02-4A5C-BA59-E07D3A05F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E075B-766C-4482-AE34-0A5E84DB3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71D9-41FA-4354-A81F-47F07EB6D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87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19A66-645D-4F6C-817C-88048AB60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470F5B-4CFF-49A0-9BAE-AEB217849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A4E8A-8D6A-4A69-93A2-26304DE4E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EF1D-DD9B-4CE1-A6BD-CB61C9036D3B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C3FFF-9A95-44F7-9D7B-47F0FB30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D0986-C1B6-4C55-A56B-48E1CEF99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71D9-41FA-4354-A81F-47F07EB6D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535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53D60-91F5-492F-A9EE-539F7CF47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11834-3ACC-4A35-83D6-03262B725C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91157C-113A-4A71-8A3A-56ED96406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EFF11A-1304-4339-9A4D-654EC279D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EF1D-DD9B-4CE1-A6BD-CB61C9036D3B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21FC2F-5F33-4B94-9008-5AC657FD9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424BC-4A25-4E82-9DF6-19E93490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71D9-41FA-4354-A81F-47F07EB6D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116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A797E-51A3-4B3E-87AD-458D81E93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F8B3E8-6C89-4F5F-AD44-5FA133700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80C0DC-5BA7-42F7-ACB0-E4FD0BBEF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FF61C2-398E-4342-9F1B-7C356AD9D5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C5AD66-0A09-4482-8E38-6E7B0A7E49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F3FA77-ACC9-4DD8-BD87-A8B0FF9C4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EF1D-DD9B-4CE1-A6BD-CB61C9036D3B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EB0091-92D0-48BC-AE8C-CD23CEFBA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40E44F-3E2B-4732-BB0D-221C30CA6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71D9-41FA-4354-A81F-47F07EB6D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505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4BB92-D83F-41C8-9566-4DA3CF6AE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97D067-EE24-497F-A487-B6C7F3068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EF1D-DD9B-4CE1-A6BD-CB61C9036D3B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EF6F2C-BD32-4098-924A-60FB6F551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2F2393-FEDB-4AC9-9778-8A495DEC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71D9-41FA-4354-A81F-47F07EB6D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387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1CBA65-6579-43C2-9459-8677ACD9E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EF1D-DD9B-4CE1-A6BD-CB61C9036D3B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2EF40F-9A67-4184-A17A-D4DDE7A27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12321-FE35-4861-8AE0-7A1B8D1D7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71D9-41FA-4354-A81F-47F07EB6D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467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A6B53-E31D-4D2F-A961-7B15893A6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9F5CF-A3F7-4AF5-9893-975C4FAD7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8C716-5ECB-49CB-800E-C6407EF49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6CFA4B-195C-45C7-9251-B0477D5CC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EF1D-DD9B-4CE1-A6BD-CB61C9036D3B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B9F20-7953-4DFF-BEF3-0F01BC932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375ED-0D34-40A5-9344-249CCA67F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71D9-41FA-4354-A81F-47F07EB6D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695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77BAE-10F0-4298-999C-1F108CDB0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3C1395-C723-43B1-A6C3-385E26D997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55D5C-0FE5-4CE1-A614-FDFC28103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36D065-5A71-428B-8159-B562C1374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EF1D-DD9B-4CE1-A6BD-CB61C9036D3B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CF6B6D-B2DD-406B-9142-83FD7A569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1E7850-1D0E-44DF-A31D-8C358F64A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71D9-41FA-4354-A81F-47F07EB6D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206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9B92D-655A-4DA2-A24B-AFF72828A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703101-7645-489B-829E-CE2907196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87576-156D-48BF-AF40-00ADF9833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EF1D-DD9B-4CE1-A6BD-CB61C9036D3B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33853-6685-447D-B7F3-1BAC51C91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F85AD-BE6B-492C-A8C4-9BED2B597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71D9-41FA-4354-A81F-47F07EB6D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016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F64C87-64FC-43EF-92A1-80F4D40A9E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3030F2-261E-4B73-A058-FD79650333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CD0F4-E923-4DD4-92FC-187A286DB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EF1D-DD9B-4CE1-A6BD-CB61C9036D3B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92CD9-C27C-4CF7-8609-5D9F76CDC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9C183-F19A-43C9-BC3A-D3B1C3941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71D9-41FA-4354-A81F-47F07EB6D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8576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3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9" indent="0" algn="ctr">
              <a:buNone/>
              <a:defRPr sz="2800"/>
            </a:lvl2pPr>
            <a:lvl3pPr marL="914418" indent="0" algn="ctr">
              <a:buNone/>
              <a:defRPr sz="2400"/>
            </a:lvl3pPr>
            <a:lvl4pPr marL="1371627" indent="0" algn="ctr">
              <a:buNone/>
              <a:defRPr sz="2000"/>
            </a:lvl4pPr>
            <a:lvl5pPr marL="1828837" indent="0" algn="ctr">
              <a:buNone/>
              <a:defRPr sz="2000"/>
            </a:lvl5pPr>
            <a:lvl6pPr marL="2286046" indent="0" algn="ctr">
              <a:buNone/>
              <a:defRPr sz="2000"/>
            </a:lvl6pPr>
            <a:lvl7pPr marL="2743255" indent="0" algn="ctr">
              <a:buNone/>
              <a:defRPr sz="2000"/>
            </a:lvl7pPr>
            <a:lvl8pPr marL="3200464" indent="0" algn="ctr">
              <a:buNone/>
              <a:defRPr sz="2000"/>
            </a:lvl8pPr>
            <a:lvl9pPr marL="3657673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4/29/2022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5258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FigureOut">
              <a:rPr lang="en-US" smtClean="0"/>
              <a:t>4/29/2022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5540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20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3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4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5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6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7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0028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5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5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FigureOut">
              <a:rPr lang="en-US" smtClean="0"/>
              <a:t>4/29/2022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7756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9" indent="0">
              <a:buNone/>
              <a:defRPr sz="2000" b="1"/>
            </a:lvl2pPr>
            <a:lvl3pPr marL="914418" indent="0">
              <a:buNone/>
              <a:defRPr sz="1800" b="1"/>
            </a:lvl3pPr>
            <a:lvl4pPr marL="1371627" indent="0">
              <a:buNone/>
              <a:defRPr sz="1600" b="1"/>
            </a:lvl4pPr>
            <a:lvl5pPr marL="1828837" indent="0">
              <a:buNone/>
              <a:defRPr sz="1600" b="1"/>
            </a:lvl5pPr>
            <a:lvl6pPr marL="2286046" indent="0">
              <a:buNone/>
              <a:defRPr sz="1600" b="1"/>
            </a:lvl6pPr>
            <a:lvl7pPr marL="2743255" indent="0">
              <a:buNone/>
              <a:defRPr sz="1600" b="1"/>
            </a:lvl7pPr>
            <a:lvl8pPr marL="3200464" indent="0">
              <a:buNone/>
              <a:defRPr sz="1600" b="1"/>
            </a:lvl8pPr>
            <a:lvl9pPr marL="365767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9" indent="0">
              <a:buNone/>
              <a:defRPr sz="2000" b="1"/>
            </a:lvl2pPr>
            <a:lvl3pPr marL="914418" indent="0">
              <a:buNone/>
              <a:defRPr sz="1800" b="1"/>
            </a:lvl3pPr>
            <a:lvl4pPr marL="1371627" indent="0">
              <a:buNone/>
              <a:defRPr sz="1600" b="1"/>
            </a:lvl4pPr>
            <a:lvl5pPr marL="1828837" indent="0">
              <a:buNone/>
              <a:defRPr sz="1600" b="1"/>
            </a:lvl5pPr>
            <a:lvl6pPr marL="2286046" indent="0">
              <a:buNone/>
              <a:defRPr sz="1600" b="1"/>
            </a:lvl6pPr>
            <a:lvl7pPr marL="2743255" indent="0">
              <a:buNone/>
              <a:defRPr sz="1600" b="1"/>
            </a:lvl7pPr>
            <a:lvl8pPr marL="3200464" indent="0">
              <a:buNone/>
              <a:defRPr sz="1600" b="1"/>
            </a:lvl8pPr>
            <a:lvl9pPr marL="365767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FigureOut">
              <a:rPr lang="en-US" smtClean="0"/>
              <a:t>4/29/2022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5074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FigureOut">
              <a:rPr lang="en-US" smtClean="0"/>
              <a:t>4/29/2022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7784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FigureOut">
              <a:rPr lang="en-US" smtClean="0"/>
              <a:t>4/29/2022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400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4"/>
            <a:ext cx="3398520" cy="3126987"/>
          </a:xfrm>
        </p:spPr>
        <p:txBody>
          <a:bodyPr>
            <a:normAutofit/>
          </a:bodyPr>
          <a:lstStyle>
            <a:lvl1pPr marL="0" marR="0" indent="0" algn="l" defTabSz="91441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9" indent="0">
              <a:buNone/>
              <a:defRPr sz="1200"/>
            </a:lvl2pPr>
            <a:lvl3pPr marL="914418" indent="0">
              <a:buNone/>
              <a:defRPr sz="1000"/>
            </a:lvl3pPr>
            <a:lvl4pPr marL="1371627" indent="0">
              <a:buNone/>
              <a:defRPr sz="900"/>
            </a:lvl4pPr>
            <a:lvl5pPr marL="1828837" indent="0">
              <a:buNone/>
              <a:defRPr sz="900"/>
            </a:lvl5pPr>
            <a:lvl6pPr marL="2286046" indent="0">
              <a:buNone/>
              <a:defRPr sz="900"/>
            </a:lvl6pPr>
            <a:lvl7pPr marL="2743255" indent="0">
              <a:buNone/>
              <a:defRPr sz="900"/>
            </a:lvl7pPr>
            <a:lvl8pPr marL="3200464" indent="0">
              <a:buNone/>
              <a:defRPr sz="900"/>
            </a:lvl8pPr>
            <a:lvl9pPr marL="3657673" indent="0">
              <a:buNone/>
              <a:defRPr sz="900"/>
            </a:lvl9pPr>
          </a:lstStyle>
          <a:p>
            <a:pPr marL="0" marR="0" lvl="0" indent="0" algn="l" defTabSz="914418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FigureOut">
              <a:rPr lang="en-US" smtClean="0"/>
              <a:t>4/29/2022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166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8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9" indent="0">
              <a:buNone/>
              <a:defRPr sz="2800"/>
            </a:lvl2pPr>
            <a:lvl3pPr marL="914418" indent="0">
              <a:buNone/>
              <a:defRPr sz="2400"/>
            </a:lvl3pPr>
            <a:lvl4pPr marL="1371627" indent="0">
              <a:buNone/>
              <a:defRPr sz="2000"/>
            </a:lvl4pPr>
            <a:lvl5pPr marL="1828837" indent="0">
              <a:buNone/>
              <a:defRPr sz="2000"/>
            </a:lvl5pPr>
            <a:lvl6pPr marL="2286046" indent="0">
              <a:buNone/>
              <a:defRPr sz="2000"/>
            </a:lvl6pPr>
            <a:lvl7pPr marL="2743255" indent="0">
              <a:buNone/>
              <a:defRPr sz="2000"/>
            </a:lvl7pPr>
            <a:lvl8pPr marL="3200464" indent="0">
              <a:buNone/>
              <a:defRPr sz="2000"/>
            </a:lvl8pPr>
            <a:lvl9pPr marL="3657673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9" indent="0">
              <a:buNone/>
              <a:defRPr sz="1200"/>
            </a:lvl2pPr>
            <a:lvl3pPr marL="914418" indent="0">
              <a:buNone/>
              <a:defRPr sz="1000"/>
            </a:lvl3pPr>
            <a:lvl4pPr marL="1371627" indent="0">
              <a:buNone/>
              <a:defRPr sz="900"/>
            </a:lvl4pPr>
            <a:lvl5pPr marL="1828837" indent="0">
              <a:buNone/>
              <a:defRPr sz="900"/>
            </a:lvl5pPr>
            <a:lvl6pPr marL="2286046" indent="0">
              <a:buNone/>
              <a:defRPr sz="900"/>
            </a:lvl6pPr>
            <a:lvl7pPr marL="2743255" indent="0">
              <a:buNone/>
              <a:defRPr sz="900"/>
            </a:lvl7pPr>
            <a:lvl8pPr marL="3200464" indent="0">
              <a:buNone/>
              <a:defRPr sz="900"/>
            </a:lvl8pPr>
            <a:lvl9pPr marL="3657673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4/29/2022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7545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FigureOut">
              <a:rPr lang="en-US" smtClean="0"/>
              <a:t>4/29/2022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8831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6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FigureOut">
              <a:rPr lang="en-US" smtClean="0"/>
              <a:t>4/29/2022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93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89DAD5-3425-497C-8096-2F1AF2C84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8BD4E-4E2F-4CBD-922B-63D3FEDFB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1842D-37D3-47A2-BB82-9B8A99D040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EF1D-DD9B-4CE1-A6BD-CB61C9036D3B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5790A-D337-4F61-B6C3-DEBDB1BA39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12D7B-346A-443F-A83B-0CDA08C8F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371D9-41FA-4354-A81F-47F07EB6D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099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5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7" y="2011681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4/29/2022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3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684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18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2" indent="-91442" algn="l" defTabSz="914418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9" indent="-342907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51" indent="-548651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76" indent="-822976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302" indent="-1097302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24" indent="-228605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28" indent="-228605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32" indent="-228605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36" indent="-228605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9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8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7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7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46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55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64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73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BA6CF-B67D-4B3E-9CCC-E2BA9BCD74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4944" y="954041"/>
            <a:ext cx="9144000" cy="2387600"/>
          </a:xfrm>
        </p:spPr>
        <p:txBody>
          <a:bodyPr/>
          <a:lstStyle/>
          <a:p>
            <a:r>
              <a:rPr lang="en-IN">
                <a:latin typeface="Abadi" panose="020B0604020104020204" pitchFamily="34" charset="0"/>
              </a:rPr>
              <a:t>Leveraging </a:t>
            </a:r>
            <a:r>
              <a:rPr lang="en-IN" dirty="0">
                <a:latin typeface="Abadi" panose="020B0604020104020204" pitchFamily="34" charset="0"/>
              </a:rPr>
              <a:t>Nature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CC24C7E-E94A-4D26-A771-421229E0B1C6}"/>
              </a:ext>
            </a:extLst>
          </p:cNvPr>
          <p:cNvCxnSpPr>
            <a:cxnSpLocks/>
          </p:cNvCxnSpPr>
          <p:nvPr/>
        </p:nvCxnSpPr>
        <p:spPr>
          <a:xfrm>
            <a:off x="0" y="3516360"/>
            <a:ext cx="12167616" cy="24152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4876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Object 40">
            <a:extLst>
              <a:ext uri="{FF2B5EF4-FFF2-40B4-BE49-F238E27FC236}">
                <a16:creationId xmlns:a16="http://schemas.microsoft.com/office/drawing/2014/main" id="{8ACE205A-764A-4422-996A-11449D7A12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1" y="0"/>
          <a:ext cx="8833304" cy="6238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Acrobat Document" r:id="rId3" imgW="22707483" imgH="16039896" progId="AcroExch.Document.DC">
                  <p:embed/>
                </p:oleObj>
              </mc:Choice>
              <mc:Fallback>
                <p:oleObj name="Acrobat Document" r:id="rId3" imgW="22707483" imgH="16039896" progId="AcroExch.Document.DC">
                  <p:embed/>
                  <p:pic>
                    <p:nvPicPr>
                      <p:cNvPr id="41" name="Object 40">
                        <a:extLst>
                          <a:ext uri="{FF2B5EF4-FFF2-40B4-BE49-F238E27FC236}">
                            <a16:creationId xmlns:a16="http://schemas.microsoft.com/office/drawing/2014/main" id="{8ACE205A-764A-4422-996A-11449D7A12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4001" y="0"/>
                        <a:ext cx="8833304" cy="62388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764241F-4E3D-4E05-99DD-917B10EF1BD0}"/>
              </a:ext>
            </a:extLst>
          </p:cNvPr>
          <p:cNvSpPr/>
          <p:nvPr/>
        </p:nvSpPr>
        <p:spPr>
          <a:xfrm>
            <a:off x="1524000" y="6244717"/>
            <a:ext cx="9144000" cy="613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D181C3B-1694-4892-BA06-3DA6E1C70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309" y="6242330"/>
            <a:ext cx="8287164" cy="613283"/>
          </a:xfrm>
        </p:spPr>
        <p:txBody>
          <a:bodyPr>
            <a:normAutofit/>
          </a:bodyPr>
          <a:lstStyle/>
          <a:p>
            <a:r>
              <a:rPr lang="en-IN" sz="2857" dirty="0">
                <a:solidFill>
                  <a:schemeClr val="bg1"/>
                </a:solidFill>
              </a:rPr>
              <a:t>BUILDING ORIENTATION</a:t>
            </a:r>
          </a:p>
        </p:txBody>
      </p:sp>
      <p:sp>
        <p:nvSpPr>
          <p:cNvPr id="72" name="Title 1">
            <a:extLst>
              <a:ext uri="{FF2B5EF4-FFF2-40B4-BE49-F238E27FC236}">
                <a16:creationId xmlns:a16="http://schemas.microsoft.com/office/drawing/2014/main" id="{B496665F-547B-438F-92EF-3F6B0067913F}"/>
              </a:ext>
            </a:extLst>
          </p:cNvPr>
          <p:cNvSpPr txBox="1">
            <a:spLocks/>
          </p:cNvSpPr>
          <p:nvPr/>
        </p:nvSpPr>
        <p:spPr>
          <a:xfrm>
            <a:off x="4957389" y="5446575"/>
            <a:ext cx="1221554" cy="613283"/>
          </a:xfrm>
          <a:prstGeom prst="rect">
            <a:avLst/>
          </a:prstGeom>
        </p:spPr>
        <p:txBody>
          <a:bodyPr vert="horz" lIns="65314" tIns="32657" rIns="65314" bIns="32657" rtlCol="0" anchor="ctr">
            <a:normAutofit/>
          </a:bodyPr>
          <a:lstStyle>
            <a:lvl1pPr algn="l" defTabSz="12801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20" kern="1200" spc="-168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4418"/>
            <a:r>
              <a:rPr lang="en-IN" sz="2286" u="sng" spc="-120" dirty="0">
                <a:solidFill>
                  <a:prstClr val="black"/>
                </a:solidFill>
                <a:latin typeface="Calibri Light" panose="020F0302020204030204"/>
              </a:rPr>
              <a:t>SITE PLAN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50B3CB0-EFE0-4DCA-8EF5-6C1FC9F13714}"/>
              </a:ext>
            </a:extLst>
          </p:cNvPr>
          <p:cNvCxnSpPr>
            <a:cxnSpLocks/>
          </p:cNvCxnSpPr>
          <p:nvPr/>
        </p:nvCxnSpPr>
        <p:spPr>
          <a:xfrm>
            <a:off x="4622284" y="2238580"/>
            <a:ext cx="2589893" cy="1013436"/>
          </a:xfrm>
          <a:prstGeom prst="straightConnector1">
            <a:avLst/>
          </a:prstGeom>
          <a:ln w="28575">
            <a:solidFill>
              <a:srgbClr val="C00000"/>
            </a:solidFill>
            <a:prstDash val="lgDashDotDot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AE6BC2B-0CA4-4433-B151-73EBBAD68FA1}"/>
              </a:ext>
            </a:extLst>
          </p:cNvPr>
          <p:cNvCxnSpPr/>
          <p:nvPr/>
        </p:nvCxnSpPr>
        <p:spPr>
          <a:xfrm flipH="1">
            <a:off x="6540098" y="2844857"/>
            <a:ext cx="503464" cy="1288143"/>
          </a:xfrm>
          <a:prstGeom prst="straightConnector1">
            <a:avLst/>
          </a:prstGeom>
          <a:ln w="28575">
            <a:solidFill>
              <a:srgbClr val="C00000"/>
            </a:solidFill>
            <a:prstDash val="lgDashDotDot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C9A01F4-69F3-418D-9136-EFD45B29A251}"/>
              </a:ext>
            </a:extLst>
          </p:cNvPr>
          <p:cNvSpPr txBox="1"/>
          <p:nvPr/>
        </p:nvSpPr>
        <p:spPr>
          <a:xfrm>
            <a:off x="7937409" y="1465941"/>
            <a:ext cx="2589893" cy="3961726"/>
          </a:xfrm>
          <a:prstGeom prst="rect">
            <a:avLst/>
          </a:prstGeom>
          <a:solidFill>
            <a:srgbClr val="009999">
              <a:alpha val="25098"/>
            </a:srgbClr>
          </a:solidFill>
          <a:ln>
            <a:solidFill>
              <a:srgbClr val="009999">
                <a:alpha val="30196"/>
              </a:srgbClr>
            </a:solidFill>
          </a:ln>
        </p:spPr>
        <p:txBody>
          <a:bodyPr wrap="square" rtlCol="0">
            <a:spAutoFit/>
          </a:bodyPr>
          <a:lstStyle/>
          <a:p>
            <a:pPr marL="244933" indent="-244933" defTabSz="326578">
              <a:buFont typeface="Arial" pitchFamily="34" charset="0"/>
              <a:buChar char="•"/>
            </a:pPr>
            <a:r>
              <a:rPr lang="en-IN" sz="2286" dirty="0">
                <a:solidFill>
                  <a:prstClr val="black"/>
                </a:solidFill>
                <a:latin typeface="Calibri Light" panose="020F0302020204030204"/>
              </a:rPr>
              <a:t>LONGER AXIS OF THE BUILDING IS ALONG EAST - WEST DIRECTION</a:t>
            </a:r>
          </a:p>
          <a:p>
            <a:pPr marL="244933" indent="-244933" defTabSz="326578">
              <a:buFont typeface="Arial" pitchFamily="34" charset="0"/>
              <a:buChar char="•"/>
            </a:pPr>
            <a:endParaRPr lang="en-IN" sz="2286" dirty="0">
              <a:solidFill>
                <a:prstClr val="black"/>
              </a:solidFill>
              <a:latin typeface="Calibri Light" panose="020F0302020204030204"/>
            </a:endParaRPr>
          </a:p>
          <a:p>
            <a:pPr marL="244933" indent="-244933" defTabSz="326578">
              <a:buFont typeface="Arial" pitchFamily="34" charset="0"/>
              <a:buChar char="•"/>
            </a:pPr>
            <a:r>
              <a:rPr lang="en-IN" sz="2286" dirty="0">
                <a:solidFill>
                  <a:prstClr val="black"/>
                </a:solidFill>
                <a:latin typeface="Calibri Light" panose="020F0302020204030204"/>
              </a:rPr>
              <a:t>CLINICS AND ROOMS PLANNED ON THE NORTH SOUTH SIDE OF THE BUILDING TO REDUCE HEAT</a:t>
            </a:r>
          </a:p>
        </p:txBody>
      </p:sp>
    </p:spTree>
    <p:extLst>
      <p:ext uri="{BB962C8B-B14F-4D97-AF65-F5344CB8AC3E}">
        <p14:creationId xmlns:p14="http://schemas.microsoft.com/office/powerpoint/2010/main" val="2650286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Object 40">
            <a:extLst>
              <a:ext uri="{FF2B5EF4-FFF2-40B4-BE49-F238E27FC236}">
                <a16:creationId xmlns:a16="http://schemas.microsoft.com/office/drawing/2014/main" id="{8ACE205A-764A-4422-996A-11449D7A12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4577" y="11361"/>
          <a:ext cx="8833304" cy="6238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Acrobat Document" r:id="rId3" imgW="22707483" imgH="16039896" progId="AcroExch.Document.DC">
                  <p:embed/>
                </p:oleObj>
              </mc:Choice>
              <mc:Fallback>
                <p:oleObj name="Acrobat Document" r:id="rId3" imgW="22707483" imgH="16039896" progId="AcroExch.Document.DC">
                  <p:embed/>
                  <p:pic>
                    <p:nvPicPr>
                      <p:cNvPr id="41" name="Object 40">
                        <a:extLst>
                          <a:ext uri="{FF2B5EF4-FFF2-40B4-BE49-F238E27FC236}">
                            <a16:creationId xmlns:a16="http://schemas.microsoft.com/office/drawing/2014/main" id="{8ACE205A-764A-4422-996A-11449D7A12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44577" y="11361"/>
                        <a:ext cx="8833304" cy="62388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764241F-4E3D-4E05-99DD-917B10EF1BD0}"/>
              </a:ext>
            </a:extLst>
          </p:cNvPr>
          <p:cNvSpPr/>
          <p:nvPr/>
        </p:nvSpPr>
        <p:spPr>
          <a:xfrm>
            <a:off x="1524000" y="6244717"/>
            <a:ext cx="9144000" cy="613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D181C3B-1694-4892-BA06-3DA6E1C70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980" y="6242330"/>
            <a:ext cx="8085582" cy="613283"/>
          </a:xfrm>
        </p:spPr>
        <p:txBody>
          <a:bodyPr>
            <a:normAutofit/>
          </a:bodyPr>
          <a:lstStyle/>
          <a:p>
            <a:r>
              <a:rPr lang="en-IN" sz="2857" dirty="0">
                <a:solidFill>
                  <a:schemeClr val="bg1"/>
                </a:solidFill>
              </a:rPr>
              <a:t>COURTYARD – Lighting &amp; Ventilation </a:t>
            </a:r>
          </a:p>
        </p:txBody>
      </p:sp>
      <p:sp>
        <p:nvSpPr>
          <p:cNvPr id="72" name="Title 1">
            <a:extLst>
              <a:ext uri="{FF2B5EF4-FFF2-40B4-BE49-F238E27FC236}">
                <a16:creationId xmlns:a16="http://schemas.microsoft.com/office/drawing/2014/main" id="{B496665F-547B-438F-92EF-3F6B0067913F}"/>
              </a:ext>
            </a:extLst>
          </p:cNvPr>
          <p:cNvSpPr txBox="1">
            <a:spLocks/>
          </p:cNvSpPr>
          <p:nvPr/>
        </p:nvSpPr>
        <p:spPr>
          <a:xfrm>
            <a:off x="4957389" y="5446575"/>
            <a:ext cx="1221554" cy="613283"/>
          </a:xfrm>
          <a:prstGeom prst="rect">
            <a:avLst/>
          </a:prstGeom>
        </p:spPr>
        <p:txBody>
          <a:bodyPr vert="horz" lIns="65314" tIns="32657" rIns="65314" bIns="32657" rtlCol="0" anchor="ctr">
            <a:normAutofit/>
          </a:bodyPr>
          <a:lstStyle>
            <a:lvl1pPr algn="l" defTabSz="12801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20" kern="1200" spc="-168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4418"/>
            <a:r>
              <a:rPr lang="en-IN" sz="2286" u="sng" spc="-120" dirty="0">
                <a:solidFill>
                  <a:prstClr val="black"/>
                </a:solidFill>
                <a:latin typeface="Calibri Light" panose="020F0302020204030204"/>
              </a:rPr>
              <a:t>SITE PLAN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1751617-9B96-4104-9737-89681C19D370}"/>
              </a:ext>
            </a:extLst>
          </p:cNvPr>
          <p:cNvSpPr/>
          <p:nvPr/>
        </p:nvSpPr>
        <p:spPr>
          <a:xfrm rot="1278417">
            <a:off x="5229429" y="2637880"/>
            <a:ext cx="320384" cy="386163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BBE11C1-789D-439E-B762-8540EFE55FBC}"/>
              </a:ext>
            </a:extLst>
          </p:cNvPr>
          <p:cNvSpPr/>
          <p:nvPr/>
        </p:nvSpPr>
        <p:spPr>
          <a:xfrm rot="1278417">
            <a:off x="5054127" y="3148316"/>
            <a:ext cx="320384" cy="26194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71FD669-BA75-445C-9573-41E3D7B4645F}"/>
              </a:ext>
            </a:extLst>
          </p:cNvPr>
          <p:cNvSpPr/>
          <p:nvPr/>
        </p:nvSpPr>
        <p:spPr>
          <a:xfrm rot="1278417">
            <a:off x="6634620" y="3184534"/>
            <a:ext cx="320384" cy="386163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E15C4A8-160D-4409-B0AE-833C924E7402}"/>
              </a:ext>
            </a:extLst>
          </p:cNvPr>
          <p:cNvSpPr/>
          <p:nvPr/>
        </p:nvSpPr>
        <p:spPr>
          <a:xfrm rot="1278417">
            <a:off x="6461585" y="3692701"/>
            <a:ext cx="320384" cy="26194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E6D625B-4D4F-4D65-9817-BCB4BCAAA04B}"/>
              </a:ext>
            </a:extLst>
          </p:cNvPr>
          <p:cNvSpPr/>
          <p:nvPr/>
        </p:nvSpPr>
        <p:spPr>
          <a:xfrm rot="1278417">
            <a:off x="4859878" y="2474228"/>
            <a:ext cx="213959" cy="533294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43E805-89CC-4027-9A27-96D046228C7B}"/>
              </a:ext>
            </a:extLst>
          </p:cNvPr>
          <p:cNvSpPr txBox="1"/>
          <p:nvPr/>
        </p:nvSpPr>
        <p:spPr>
          <a:xfrm>
            <a:off x="7937409" y="1465941"/>
            <a:ext cx="2575243" cy="3961726"/>
          </a:xfrm>
          <a:prstGeom prst="rect">
            <a:avLst/>
          </a:prstGeom>
          <a:solidFill>
            <a:srgbClr val="009999">
              <a:alpha val="25098"/>
            </a:srgbClr>
          </a:solidFill>
          <a:ln>
            <a:solidFill>
              <a:srgbClr val="009999">
                <a:alpha val="30196"/>
              </a:srgbClr>
            </a:solidFill>
          </a:ln>
        </p:spPr>
        <p:txBody>
          <a:bodyPr wrap="square" rtlCol="0">
            <a:spAutoFit/>
          </a:bodyPr>
          <a:lstStyle/>
          <a:p>
            <a:pPr marL="244933" indent="-244933" defTabSz="326578">
              <a:buFont typeface="Arial" pitchFamily="34" charset="0"/>
              <a:buChar char="•"/>
            </a:pPr>
            <a:r>
              <a:rPr lang="en-IN" sz="2286" dirty="0">
                <a:solidFill>
                  <a:prstClr val="black"/>
                </a:solidFill>
                <a:latin typeface="Calibri Light" panose="020F0302020204030204"/>
              </a:rPr>
              <a:t>COURTYARD BRINGING</a:t>
            </a:r>
          </a:p>
          <a:p>
            <a:pPr defTabSz="326578"/>
            <a:r>
              <a:rPr lang="en-IN" sz="2286" dirty="0">
                <a:solidFill>
                  <a:prstClr val="black"/>
                </a:solidFill>
                <a:latin typeface="Calibri Light" panose="020F0302020204030204"/>
              </a:rPr>
              <a:t>   DAY LIGHT AND   </a:t>
            </a:r>
          </a:p>
          <a:p>
            <a:pPr defTabSz="326578"/>
            <a:r>
              <a:rPr lang="en-IN" sz="2286" dirty="0">
                <a:solidFill>
                  <a:prstClr val="black"/>
                </a:solidFill>
                <a:latin typeface="Calibri Light" panose="020F0302020204030204"/>
              </a:rPr>
              <a:t>   VENTILATION</a:t>
            </a:r>
          </a:p>
          <a:p>
            <a:pPr marL="244933" indent="-244933" defTabSz="326578">
              <a:buFont typeface="Arial" pitchFamily="34" charset="0"/>
              <a:buChar char="•"/>
            </a:pPr>
            <a:endParaRPr lang="en-IN" sz="2286" dirty="0">
              <a:solidFill>
                <a:prstClr val="black"/>
              </a:solidFill>
              <a:latin typeface="Calibri Light" panose="020F0302020204030204"/>
            </a:endParaRPr>
          </a:p>
          <a:p>
            <a:pPr marL="244933" indent="-244933" defTabSz="326578">
              <a:buFont typeface="Arial" pitchFamily="34" charset="0"/>
              <a:buChar char="•"/>
            </a:pPr>
            <a:endParaRPr lang="en-IN" sz="2286" dirty="0">
              <a:solidFill>
                <a:prstClr val="black"/>
              </a:solidFill>
              <a:latin typeface="Calibri Light" panose="020F0302020204030204"/>
            </a:endParaRPr>
          </a:p>
          <a:p>
            <a:pPr marL="244933" indent="-244933" defTabSz="326578">
              <a:buFont typeface="Arial" pitchFamily="34" charset="0"/>
              <a:buChar char="•"/>
            </a:pPr>
            <a:endParaRPr lang="en-IN" sz="2286" dirty="0">
              <a:solidFill>
                <a:prstClr val="black"/>
              </a:solidFill>
              <a:latin typeface="Calibri Light" panose="020F0302020204030204"/>
            </a:endParaRPr>
          </a:p>
          <a:p>
            <a:pPr marL="244933" indent="-244933" defTabSz="326578">
              <a:buFont typeface="Arial" pitchFamily="34" charset="0"/>
              <a:buChar char="•"/>
            </a:pPr>
            <a:endParaRPr lang="en-IN" sz="2286" dirty="0">
              <a:solidFill>
                <a:prstClr val="black"/>
              </a:solidFill>
              <a:latin typeface="Calibri Light" panose="020F0302020204030204"/>
            </a:endParaRPr>
          </a:p>
          <a:p>
            <a:pPr marL="244933" indent="-244933" defTabSz="326578">
              <a:buFont typeface="Arial" pitchFamily="34" charset="0"/>
              <a:buChar char="•"/>
            </a:pPr>
            <a:endParaRPr lang="en-IN" sz="2286" dirty="0">
              <a:solidFill>
                <a:prstClr val="black"/>
              </a:solidFill>
              <a:latin typeface="Calibri Light" panose="020F0302020204030204"/>
            </a:endParaRPr>
          </a:p>
          <a:p>
            <a:pPr marL="244933" indent="-244933" defTabSz="326578">
              <a:buFont typeface="Arial" pitchFamily="34" charset="0"/>
              <a:buChar char="•"/>
            </a:pPr>
            <a:endParaRPr lang="en-IN" sz="2286" dirty="0">
              <a:solidFill>
                <a:prstClr val="black"/>
              </a:solidFill>
              <a:latin typeface="Calibri Light" panose="020F0302020204030204"/>
            </a:endParaRPr>
          </a:p>
          <a:p>
            <a:pPr marL="244933" indent="-244933" defTabSz="326578">
              <a:buFont typeface="Arial" pitchFamily="34" charset="0"/>
              <a:buChar char="•"/>
            </a:pPr>
            <a:endParaRPr lang="en-IN" sz="2286" dirty="0">
              <a:solidFill>
                <a:prstClr val="black"/>
              </a:solidFill>
              <a:latin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75695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Object 40">
            <a:extLst>
              <a:ext uri="{FF2B5EF4-FFF2-40B4-BE49-F238E27FC236}">
                <a16:creationId xmlns:a16="http://schemas.microsoft.com/office/drawing/2014/main" id="{8ACE205A-764A-4422-996A-11449D7A12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4577" y="11361"/>
          <a:ext cx="8833304" cy="6238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Acrobat Document" r:id="rId3" imgW="22707483" imgH="16039896" progId="AcroExch.Document.DC">
                  <p:embed/>
                </p:oleObj>
              </mc:Choice>
              <mc:Fallback>
                <p:oleObj name="Acrobat Document" r:id="rId3" imgW="22707483" imgH="16039896" progId="AcroExch.Document.DC">
                  <p:embed/>
                  <p:pic>
                    <p:nvPicPr>
                      <p:cNvPr id="41" name="Object 40">
                        <a:extLst>
                          <a:ext uri="{FF2B5EF4-FFF2-40B4-BE49-F238E27FC236}">
                            <a16:creationId xmlns:a16="http://schemas.microsoft.com/office/drawing/2014/main" id="{8ACE205A-764A-4422-996A-11449D7A12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44577" y="11361"/>
                        <a:ext cx="8833304" cy="62388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764241F-4E3D-4E05-99DD-917B10EF1BD0}"/>
              </a:ext>
            </a:extLst>
          </p:cNvPr>
          <p:cNvSpPr/>
          <p:nvPr/>
        </p:nvSpPr>
        <p:spPr>
          <a:xfrm>
            <a:off x="1524000" y="6244717"/>
            <a:ext cx="9144000" cy="613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D181C3B-1694-4892-BA06-3DA6E1C70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980" y="6242330"/>
            <a:ext cx="8085582" cy="613283"/>
          </a:xfrm>
        </p:spPr>
        <p:txBody>
          <a:bodyPr>
            <a:normAutofit/>
          </a:bodyPr>
          <a:lstStyle/>
          <a:p>
            <a:r>
              <a:rPr lang="en-IN" sz="2857" dirty="0">
                <a:solidFill>
                  <a:schemeClr val="bg1"/>
                </a:solidFill>
              </a:rPr>
              <a:t>COURTYARD – Lighting &amp; Ventilation </a:t>
            </a:r>
          </a:p>
        </p:txBody>
      </p:sp>
      <p:sp>
        <p:nvSpPr>
          <p:cNvPr id="72" name="Title 1">
            <a:extLst>
              <a:ext uri="{FF2B5EF4-FFF2-40B4-BE49-F238E27FC236}">
                <a16:creationId xmlns:a16="http://schemas.microsoft.com/office/drawing/2014/main" id="{B496665F-547B-438F-92EF-3F6B0067913F}"/>
              </a:ext>
            </a:extLst>
          </p:cNvPr>
          <p:cNvSpPr txBox="1">
            <a:spLocks/>
          </p:cNvSpPr>
          <p:nvPr/>
        </p:nvSpPr>
        <p:spPr>
          <a:xfrm>
            <a:off x="4957389" y="5446575"/>
            <a:ext cx="1221554" cy="613283"/>
          </a:xfrm>
          <a:prstGeom prst="rect">
            <a:avLst/>
          </a:prstGeom>
        </p:spPr>
        <p:txBody>
          <a:bodyPr vert="horz" lIns="65314" tIns="32657" rIns="65314" bIns="32657" rtlCol="0" anchor="ctr">
            <a:normAutofit/>
          </a:bodyPr>
          <a:lstStyle>
            <a:lvl1pPr algn="l" defTabSz="12801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20" kern="1200" spc="-168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4418"/>
            <a:r>
              <a:rPr lang="en-IN" sz="2286" u="sng" spc="-120" dirty="0">
                <a:solidFill>
                  <a:prstClr val="black"/>
                </a:solidFill>
                <a:latin typeface="Calibri Light" panose="020F0302020204030204"/>
              </a:rPr>
              <a:t>SITE PLAN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BB30BC8-F1C4-4AE7-A056-395982A481AB}"/>
              </a:ext>
            </a:extLst>
          </p:cNvPr>
          <p:cNvSpPr/>
          <p:nvPr/>
        </p:nvSpPr>
        <p:spPr>
          <a:xfrm rot="1278417">
            <a:off x="6940354" y="3004626"/>
            <a:ext cx="188231" cy="1012193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91D6006-202B-4D23-A348-CDCF51E867F2}"/>
              </a:ext>
            </a:extLst>
          </p:cNvPr>
          <p:cNvSpPr txBox="1"/>
          <p:nvPr/>
        </p:nvSpPr>
        <p:spPr>
          <a:xfrm>
            <a:off x="7937409" y="1465941"/>
            <a:ext cx="2589893" cy="3961726"/>
          </a:xfrm>
          <a:prstGeom prst="rect">
            <a:avLst/>
          </a:prstGeom>
          <a:solidFill>
            <a:srgbClr val="009999">
              <a:alpha val="25098"/>
            </a:srgbClr>
          </a:solidFill>
          <a:ln>
            <a:solidFill>
              <a:srgbClr val="009999">
                <a:alpha val="30196"/>
              </a:srgbClr>
            </a:solidFill>
          </a:ln>
        </p:spPr>
        <p:txBody>
          <a:bodyPr wrap="square" rtlCol="0">
            <a:spAutoFit/>
          </a:bodyPr>
          <a:lstStyle/>
          <a:p>
            <a:pPr marL="244933" indent="-244933" defTabSz="326578">
              <a:buFont typeface="Arial" pitchFamily="34" charset="0"/>
              <a:buChar char="•"/>
            </a:pPr>
            <a:r>
              <a:rPr lang="en-IN" sz="2286" dirty="0">
                <a:solidFill>
                  <a:prstClr val="black"/>
                </a:solidFill>
                <a:latin typeface="Calibri Light" panose="020F0302020204030204"/>
              </a:rPr>
              <a:t>RAMP &amp; STAIRCASE PLANNED ON THE WEST SIDE OF THE BUILDING TO REDUCE HEAT GAIN</a:t>
            </a:r>
          </a:p>
          <a:p>
            <a:pPr marL="244933" indent="-244933" defTabSz="326578">
              <a:buFont typeface="Arial" pitchFamily="34" charset="0"/>
              <a:buChar char="•"/>
            </a:pPr>
            <a:endParaRPr lang="en-IN" sz="2286" dirty="0">
              <a:solidFill>
                <a:prstClr val="black"/>
              </a:solidFill>
              <a:latin typeface="Calibri Light" panose="020F0302020204030204"/>
            </a:endParaRPr>
          </a:p>
          <a:p>
            <a:pPr marL="244933" indent="-244933" defTabSz="326578">
              <a:buFont typeface="Arial" pitchFamily="34" charset="0"/>
              <a:buChar char="•"/>
            </a:pPr>
            <a:endParaRPr lang="en-IN" sz="2286" dirty="0">
              <a:solidFill>
                <a:prstClr val="black"/>
              </a:solidFill>
              <a:latin typeface="Calibri Light" panose="020F0302020204030204"/>
            </a:endParaRPr>
          </a:p>
          <a:p>
            <a:pPr marL="244933" indent="-244933" defTabSz="326578">
              <a:buFont typeface="Arial" pitchFamily="34" charset="0"/>
              <a:buChar char="•"/>
            </a:pPr>
            <a:endParaRPr lang="en-IN" sz="2286" dirty="0">
              <a:solidFill>
                <a:prstClr val="black"/>
              </a:solidFill>
              <a:latin typeface="Calibri Light" panose="020F0302020204030204"/>
            </a:endParaRPr>
          </a:p>
          <a:p>
            <a:pPr marL="244933" indent="-244933" defTabSz="326578">
              <a:buFont typeface="Arial" pitchFamily="34" charset="0"/>
              <a:buChar char="•"/>
            </a:pPr>
            <a:endParaRPr lang="en-IN" sz="2286" dirty="0">
              <a:solidFill>
                <a:prstClr val="black"/>
              </a:solidFill>
              <a:latin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38183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Abadi</vt:lpstr>
      <vt:lpstr>Arial</vt:lpstr>
      <vt:lpstr>Calibri</vt:lpstr>
      <vt:lpstr>Calibri Light</vt:lpstr>
      <vt:lpstr>Office Theme</vt:lpstr>
      <vt:lpstr>Metropolitan</vt:lpstr>
      <vt:lpstr>Acrobat Document</vt:lpstr>
      <vt:lpstr>Leveraging Nature</vt:lpstr>
      <vt:lpstr>BUILDING ORIENTATION</vt:lpstr>
      <vt:lpstr>COURTYARD – Lighting &amp; Ventilation </vt:lpstr>
      <vt:lpstr>COURTYARD – Lighting &amp; Ventilation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Thulasiraj Ravilla</dc:creator>
  <cp:lastModifiedBy>Sasipriya Karumanchi</cp:lastModifiedBy>
  <cp:revision>4</cp:revision>
  <dcterms:created xsi:type="dcterms:W3CDTF">2021-07-25T14:55:15Z</dcterms:created>
  <dcterms:modified xsi:type="dcterms:W3CDTF">2022-04-29T07:54:21Z</dcterms:modified>
</cp:coreProperties>
</file>