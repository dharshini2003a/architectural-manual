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83" r:id="rId4"/>
    <p:sldId id="384" r:id="rId5"/>
    <p:sldId id="385" r:id="rId6"/>
    <p:sldId id="38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84" d="100"/>
          <a:sy n="84" d="100"/>
        </p:scale>
        <p:origin x="180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A988A-702E-416A-AF35-52CB309F3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21060-897E-49B2-B1D1-C6987CF06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9C9AC-228D-4459-8535-922D4330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FA04E-4727-42B7-B554-6322536B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9AC54-CEDD-40A4-9028-9D742CDE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170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F6224-701D-42D7-BF03-3EDA88734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139F8-1C99-4DD9-BAE1-A4CE96DAD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72060-5887-4501-9677-81BC4451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FED2-9AF0-4C72-A2F7-42B6CFA2E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B2EFE-3683-4814-B0A9-D35FAE31B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16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C501F-9DBD-4C64-884B-3DADB991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4118A-8908-465D-B700-40E5CEF83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74896-5543-4C0C-B59C-13A643CC4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90525-1BF3-4369-B29F-F0AA15778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68273-AFCA-4366-B53C-0789538B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09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50AE5-0186-4DB7-8F53-ADD064DA9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B0103-A6FC-465D-839B-3A7071CAE6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17141-B71D-4460-AED7-1FE269409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89B88-AC1F-484D-BAD7-980CDD8B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1DEF1-562C-4F88-A723-27374141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90B2D-CCE7-4D14-86F9-95A3C34C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933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8E22-09B4-4ECE-AB87-A56CE5F5E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3C8EFE-4005-42A7-8480-8CFEBB9167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45406-D874-4374-A48C-C3A67D2CD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4D6D07-4112-426F-941B-5F791A1C0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72C3A9-6D72-4ACF-98F1-01C07F905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73D6DF-F1B1-4CF3-852E-2DA3184F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50F7D6-3447-443F-88CC-D8AF2BA6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3922B1-4991-498C-B5DC-A2A7010CF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074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22A4F-F4DF-4CAC-823D-BEE69DD6C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DED89-16F7-4957-812C-2C8E5BED3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DDCF0-23DA-4890-BB6A-4AE488587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ED7C6-B938-4653-9F42-3976AFDC9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532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C2C704-441B-4CCE-BCC9-5DF1A55A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288CD-C4DB-455F-A6F2-A2C877A73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8BC8C-2151-4D8B-8CBD-364D78CEA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300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813B1-5F1B-4F10-B7ED-29F513C1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DD85A-5E17-4237-9BE2-57D83DE39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13A7F-D00A-4F3A-8DDF-0BD27476D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A49BC-C12C-4238-AF16-1995B264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BA397-5591-46DC-BCCE-22395829F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5C5CA-322B-486D-84BB-13D9E34A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25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513C-EA76-4B3E-845B-78E592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B3BAB7-01F8-46BC-AF4A-4774A227D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307F7-FF2A-44E7-ACDF-C1C3E9A51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CCB43-BA2B-44E2-9F84-17D9E4D81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80443-972D-4877-B2D9-14376DCF8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90419-EF08-4542-9966-3B1F26F1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320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2E30F-D2BF-47B2-8D81-F0944ACF3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4265DD-158C-4B51-9E47-E769FB931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DC8EE-28DF-41E4-8492-65BCB434E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7EE71-76B3-411E-8570-0DE0DF9D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22301-4738-440F-B3B0-117065A97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90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E9B18-58F2-455C-86C3-5A4195CE0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47BE38-C1AD-41B2-BFEE-13FDE83FE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F9931-0DC5-4EB9-AC3D-2F19F085B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FB504-BED0-4D6D-9C22-B7556ECDB0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1BCEC-E434-464F-84A5-C290DF163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882A3-2EC2-41FB-B31A-7793E362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98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9" indent="0" algn="ctr">
              <a:buNone/>
              <a:defRPr sz="2800"/>
            </a:lvl2pPr>
            <a:lvl3pPr marL="914418" indent="0" algn="ctr">
              <a:buNone/>
              <a:defRPr sz="2400"/>
            </a:lvl3pPr>
            <a:lvl4pPr marL="1371627" indent="0" algn="ctr">
              <a:buNone/>
              <a:defRPr sz="2000"/>
            </a:lvl4pPr>
            <a:lvl5pPr marL="1828837" indent="0" algn="ctr">
              <a:buNone/>
              <a:defRPr sz="2000"/>
            </a:lvl5pPr>
            <a:lvl6pPr marL="2286046" indent="0" algn="ctr">
              <a:buNone/>
              <a:defRPr sz="2000"/>
            </a:lvl6pPr>
            <a:lvl7pPr marL="2743255" indent="0" algn="ctr">
              <a:buNone/>
              <a:defRPr sz="2000"/>
            </a:lvl7pPr>
            <a:lvl8pPr marL="3200464" indent="0" algn="ctr">
              <a:buNone/>
              <a:defRPr sz="2000"/>
            </a:lvl8pPr>
            <a:lvl9pPr marL="3657673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29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679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20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4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5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6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7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6286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5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5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5752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560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6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0283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4"/>
            <a:ext cx="3398520" cy="3126987"/>
          </a:xfrm>
        </p:spPr>
        <p:txBody>
          <a:bodyPr>
            <a:normAutofit/>
          </a:bodyPr>
          <a:lstStyle>
            <a:lvl1pPr marL="0" marR="0" indent="0" algn="l" defTabSz="91441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9" indent="0">
              <a:buNone/>
              <a:defRPr sz="1200"/>
            </a:lvl2pPr>
            <a:lvl3pPr marL="914418" indent="0">
              <a:buNone/>
              <a:defRPr sz="1000"/>
            </a:lvl3pPr>
            <a:lvl4pPr marL="1371627" indent="0">
              <a:buNone/>
              <a:defRPr sz="900"/>
            </a:lvl4pPr>
            <a:lvl5pPr marL="1828837" indent="0">
              <a:buNone/>
              <a:defRPr sz="900"/>
            </a:lvl5pPr>
            <a:lvl6pPr marL="2286046" indent="0">
              <a:buNone/>
              <a:defRPr sz="900"/>
            </a:lvl6pPr>
            <a:lvl7pPr marL="2743255" indent="0">
              <a:buNone/>
              <a:defRPr sz="900"/>
            </a:lvl7pPr>
            <a:lvl8pPr marL="3200464" indent="0">
              <a:buNone/>
              <a:defRPr sz="900"/>
            </a:lvl8pPr>
            <a:lvl9pPr marL="3657673" indent="0">
              <a:buNone/>
              <a:defRPr sz="900"/>
            </a:lvl9pPr>
          </a:lstStyle>
          <a:p>
            <a:pPr marL="0" marR="0" lvl="0" indent="0" algn="l" defTabSz="914418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3871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8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9" indent="0">
              <a:buNone/>
              <a:defRPr sz="1200"/>
            </a:lvl2pPr>
            <a:lvl3pPr marL="914418" indent="0">
              <a:buNone/>
              <a:defRPr sz="1000"/>
            </a:lvl3pPr>
            <a:lvl4pPr marL="1371627" indent="0">
              <a:buNone/>
              <a:defRPr sz="900"/>
            </a:lvl4pPr>
            <a:lvl5pPr marL="1828837" indent="0">
              <a:buNone/>
              <a:defRPr sz="900"/>
            </a:lvl5pPr>
            <a:lvl6pPr marL="2286046" indent="0">
              <a:buNone/>
              <a:defRPr sz="900"/>
            </a:lvl6pPr>
            <a:lvl7pPr marL="2743255" indent="0">
              <a:buNone/>
              <a:defRPr sz="900"/>
            </a:lvl7pPr>
            <a:lvl8pPr marL="3200464" indent="0">
              <a:buNone/>
              <a:defRPr sz="900"/>
            </a:lvl8pPr>
            <a:lvl9pPr marL="365767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9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677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6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23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8E553-FFA4-4D9A-A972-12183599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60622-F8F2-45F6-80C2-7F1EEC323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DBFDE-A93D-41FF-BB57-2DF57FA29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FB504-BED0-4D6D-9C22-B7556ECDB0D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350B4-ABF6-41B9-BF8D-7A29CD0B7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2637-01E5-4F42-B404-78B11AC5C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12518-3494-4301-986A-A24C6E70C3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29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5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7" y="2011681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2/6/2026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3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78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18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2" indent="-91442" algn="l" defTabSz="914418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9" indent="-342907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51" indent="-548651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76" indent="-822976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302" indent="-1097302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24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28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32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36" indent="-228605" algn="l" defTabSz="914418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B0D4-40F7-4101-B560-338FFE22D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88525"/>
            <a:ext cx="9144000" cy="1053366"/>
          </a:xfrm>
        </p:spPr>
        <p:txBody>
          <a:bodyPr/>
          <a:lstStyle/>
          <a:p>
            <a:r>
              <a:rPr lang="en-IN">
                <a:latin typeface="Abadi" panose="020B0604020104020204" pitchFamily="34" charset="0"/>
              </a:rPr>
              <a:t>Patient </a:t>
            </a:r>
            <a:r>
              <a:rPr lang="en-IN" dirty="0">
                <a:latin typeface="Abadi" panose="020B0604020104020204" pitchFamily="34" charset="0"/>
              </a:rPr>
              <a:t>Amenities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CC24C7E-E94A-4D26-A771-421229E0B1C6}"/>
              </a:ext>
            </a:extLst>
          </p:cNvPr>
          <p:cNvCxnSpPr>
            <a:cxnSpLocks/>
          </p:cNvCxnSpPr>
          <p:nvPr/>
        </p:nvCxnSpPr>
        <p:spPr>
          <a:xfrm>
            <a:off x="0" y="3676120"/>
            <a:ext cx="12167616" cy="24152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106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5AE1F79C-5A95-4CE2-BFC4-F524EDE0AD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387081"/>
              </p:ext>
            </p:extLst>
          </p:nvPr>
        </p:nvGraphicFramePr>
        <p:xfrm>
          <a:off x="73754" y="13609"/>
          <a:ext cx="8970135" cy="6335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5AE1F79C-5A95-4CE2-BFC4-F524EDE0AD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754" y="13609"/>
                        <a:ext cx="8970135" cy="6335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95985"/>
            <a:ext cx="9144000" cy="562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709718-104A-4652-8430-4BFBF61E360C}"/>
              </a:ext>
            </a:extLst>
          </p:cNvPr>
          <p:cNvSpPr txBox="1">
            <a:spLocks/>
          </p:cNvSpPr>
          <p:nvPr/>
        </p:nvSpPr>
        <p:spPr>
          <a:xfrm>
            <a:off x="1590399" y="6326109"/>
            <a:ext cx="8217041" cy="582717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18"/>
            <a:r>
              <a:rPr lang="en-IN" sz="2857" b="1" spc="-120" dirty="0">
                <a:solidFill>
                  <a:prstClr val="white"/>
                </a:solidFill>
                <a:latin typeface="Calibri Light" panose="020F0302020204030204"/>
              </a:rPr>
              <a:t>CANTEEN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3187511-241E-404F-924C-B412D089E1B9}"/>
              </a:ext>
            </a:extLst>
          </p:cNvPr>
          <p:cNvSpPr/>
          <p:nvPr/>
        </p:nvSpPr>
        <p:spPr>
          <a:xfrm>
            <a:off x="5752793" y="604262"/>
            <a:ext cx="1212979" cy="4789714"/>
          </a:xfrm>
          <a:custGeom>
            <a:avLst/>
            <a:gdLst>
              <a:gd name="connsiteX0" fmla="*/ 0 w 1698171"/>
              <a:gd name="connsiteY0" fmla="*/ 0 h 6705600"/>
              <a:gd name="connsiteX1" fmla="*/ 0 w 1698171"/>
              <a:gd name="connsiteY1" fmla="*/ 1988457 h 6705600"/>
              <a:gd name="connsiteX2" fmla="*/ 1422400 w 1698171"/>
              <a:gd name="connsiteY2" fmla="*/ 1988457 h 6705600"/>
              <a:gd name="connsiteX3" fmla="*/ 1422400 w 1698171"/>
              <a:gd name="connsiteY3" fmla="*/ 3077028 h 6705600"/>
              <a:gd name="connsiteX4" fmla="*/ 1698171 w 1698171"/>
              <a:gd name="connsiteY4" fmla="*/ 3077028 h 6705600"/>
              <a:gd name="connsiteX5" fmla="*/ 1698171 w 1698171"/>
              <a:gd name="connsiteY5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8171" h="6705600">
                <a:moveTo>
                  <a:pt x="0" y="0"/>
                </a:moveTo>
                <a:lnTo>
                  <a:pt x="0" y="1988457"/>
                </a:lnTo>
                <a:lnTo>
                  <a:pt x="1422400" y="1988457"/>
                </a:lnTo>
                <a:lnTo>
                  <a:pt x="1422400" y="3077028"/>
                </a:lnTo>
                <a:lnTo>
                  <a:pt x="1698171" y="3077028"/>
                </a:lnTo>
                <a:lnTo>
                  <a:pt x="1698171" y="6705600"/>
                </a:lnTo>
              </a:path>
            </a:pathLst>
          </a:custGeom>
          <a:noFill/>
          <a:ln w="28575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0B20AF-CF19-4D7C-BC84-F95009B1B56A}"/>
              </a:ext>
            </a:extLst>
          </p:cNvPr>
          <p:cNvSpPr/>
          <p:nvPr/>
        </p:nvSpPr>
        <p:spPr>
          <a:xfrm>
            <a:off x="548642" y="1382331"/>
            <a:ext cx="1355271" cy="2416629"/>
          </a:xfrm>
          <a:custGeom>
            <a:avLst/>
            <a:gdLst>
              <a:gd name="connsiteX0" fmla="*/ 0 w 1897380"/>
              <a:gd name="connsiteY0" fmla="*/ 0 h 3383280"/>
              <a:gd name="connsiteX1" fmla="*/ 1897380 w 1897380"/>
              <a:gd name="connsiteY1" fmla="*/ 0 h 3383280"/>
              <a:gd name="connsiteX2" fmla="*/ 1897380 w 1897380"/>
              <a:gd name="connsiteY2" fmla="*/ 3383280 h 3383280"/>
              <a:gd name="connsiteX3" fmla="*/ 1295400 w 1897380"/>
              <a:gd name="connsiteY3" fmla="*/ 3383280 h 3383280"/>
              <a:gd name="connsiteX4" fmla="*/ 7620 w 1897380"/>
              <a:gd name="connsiteY4" fmla="*/ 1562100 h 3383280"/>
              <a:gd name="connsiteX5" fmla="*/ 0 w 1897380"/>
              <a:gd name="connsiteY5" fmla="*/ 0 h 3383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97380" h="3383280">
                <a:moveTo>
                  <a:pt x="0" y="0"/>
                </a:moveTo>
                <a:lnTo>
                  <a:pt x="1897380" y="0"/>
                </a:lnTo>
                <a:lnTo>
                  <a:pt x="1897380" y="3383280"/>
                </a:lnTo>
                <a:lnTo>
                  <a:pt x="1295400" y="3383280"/>
                </a:lnTo>
                <a:lnTo>
                  <a:pt x="7620" y="156210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B59F620-13D5-4AA9-8626-75AC94CE1FC7}"/>
              </a:ext>
            </a:extLst>
          </p:cNvPr>
          <p:cNvSpPr/>
          <p:nvPr/>
        </p:nvSpPr>
        <p:spPr>
          <a:xfrm rot="16200000">
            <a:off x="1491042" y="3904358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BEBB5D3-526A-40F7-8F78-13B6A2723482}"/>
              </a:ext>
            </a:extLst>
          </p:cNvPr>
          <p:cNvSpPr/>
          <p:nvPr/>
        </p:nvSpPr>
        <p:spPr>
          <a:xfrm rot="10800000">
            <a:off x="1913207" y="3496486"/>
            <a:ext cx="393751" cy="195036"/>
          </a:xfrm>
          <a:prstGeom prst="rightArrow">
            <a:avLst>
              <a:gd name="adj1" fmla="val 12209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71BAB1A-9F50-4C59-AE7E-CCACF8D3E174}"/>
              </a:ext>
            </a:extLst>
          </p:cNvPr>
          <p:cNvSpPr/>
          <p:nvPr/>
        </p:nvSpPr>
        <p:spPr>
          <a:xfrm rot="10800000">
            <a:off x="1913207" y="1914376"/>
            <a:ext cx="393751" cy="195036"/>
          </a:xfrm>
          <a:prstGeom prst="rightArrow">
            <a:avLst>
              <a:gd name="adj1" fmla="val 12209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4F4AD5-4A68-4369-89C5-692F381334A1}"/>
              </a:ext>
            </a:extLst>
          </p:cNvPr>
          <p:cNvSpPr txBox="1"/>
          <p:nvPr/>
        </p:nvSpPr>
        <p:spPr>
          <a:xfrm>
            <a:off x="9043889" y="827021"/>
            <a:ext cx="2735435" cy="3527248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defTabSz="326578"/>
            <a:r>
              <a:rPr lang="en-IN" sz="2571" b="1" dirty="0">
                <a:solidFill>
                  <a:srgbClr val="002060"/>
                </a:solidFill>
                <a:latin typeface="Abadi" panose="020B0604020104020204" pitchFamily="34" charset="0"/>
              </a:rPr>
              <a:t>CANTEEN:</a:t>
            </a:r>
          </a:p>
          <a:p>
            <a:pPr marL="326578" indent="-326578" defTabSz="326578">
              <a:spcAft>
                <a:spcPts val="714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Isolated from the    hospital block</a:t>
            </a:r>
          </a:p>
          <a:p>
            <a:pPr marL="326578" indent="-326578" defTabSz="326578">
              <a:spcAft>
                <a:spcPts val="714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Accessed from the    outside</a:t>
            </a:r>
          </a:p>
          <a:p>
            <a:pPr marL="326578" indent="-326578" defTabSz="326578">
              <a:spcAft>
                <a:spcPts val="714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Can be used as a pre waiting</a:t>
            </a:r>
          </a:p>
          <a:p>
            <a:pPr marL="326578" indent="-326578" defTabSz="326578">
              <a:spcAft>
                <a:spcPts val="714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Connected both    from paying OP &amp; IP at level 0</a:t>
            </a: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D47D7F6-0A3E-4DE8-BB33-4A51BB7C0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7808" y="5715182"/>
          <a:ext cx="795667" cy="562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Acrobat Document" r:id="rId5" imgW="22707483" imgH="16039896" progId="AcroExch.Document.DC">
                  <p:embed/>
                </p:oleObj>
              </mc:Choice>
              <mc:Fallback>
                <p:oleObj name="Acrobat Document" r:id="rId5" imgW="22707483" imgH="16039896" progId="AcroExch.Document.DC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9D47D7F6-0A3E-4DE8-BB33-4A51BB7C0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57808" y="5715182"/>
                        <a:ext cx="795667" cy="562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7275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60776F32-B13C-4804-B364-803E0A9AFB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3185" y="10736"/>
          <a:ext cx="9141605" cy="645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60776F32-B13C-4804-B364-803E0A9AFB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13185" y="10736"/>
                        <a:ext cx="9141605" cy="6457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95985"/>
            <a:ext cx="9144000" cy="562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709718-104A-4652-8430-4BFBF61E360C}"/>
              </a:ext>
            </a:extLst>
          </p:cNvPr>
          <p:cNvSpPr txBox="1">
            <a:spLocks/>
          </p:cNvSpPr>
          <p:nvPr/>
        </p:nvSpPr>
        <p:spPr>
          <a:xfrm>
            <a:off x="1609949" y="6320192"/>
            <a:ext cx="8251112" cy="613283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18"/>
            <a:r>
              <a:rPr lang="en-IN" sz="2857" b="1" spc="-120" dirty="0">
                <a:solidFill>
                  <a:prstClr val="white"/>
                </a:solidFill>
                <a:latin typeface="Calibri Light" panose="020F0302020204030204"/>
              </a:rPr>
              <a:t>PORCH / DROP OFF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4F4AD5-4A68-4369-89C5-692F381334A1}"/>
              </a:ext>
            </a:extLst>
          </p:cNvPr>
          <p:cNvSpPr txBox="1"/>
          <p:nvPr/>
        </p:nvSpPr>
        <p:spPr>
          <a:xfrm>
            <a:off x="147227" y="1170789"/>
            <a:ext cx="2925445" cy="4137030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defTabSz="326578"/>
            <a:r>
              <a:rPr lang="en-IN" sz="2571" b="1" dirty="0">
                <a:solidFill>
                  <a:srgbClr val="002060"/>
                </a:solidFill>
                <a:latin typeface="Abadi" panose="020B0604020104020204" pitchFamily="34" charset="0"/>
              </a:rPr>
              <a:t>PORCH / DROP OFF:</a:t>
            </a:r>
          </a:p>
          <a:p>
            <a:pPr defTabSz="326578"/>
            <a:endParaRPr lang="en-IN" sz="2571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Common for both OP &amp; IP entrances</a:t>
            </a: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endParaRPr lang="en-IN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Gives a centralised entry for the users</a:t>
            </a:r>
          </a:p>
          <a:p>
            <a:pPr defTabSz="326578"/>
            <a:endParaRPr lang="en-IN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 Easy to control the movement of patients</a:t>
            </a:r>
          </a:p>
          <a:p>
            <a:pPr defTabSz="326578"/>
            <a:endParaRPr lang="en-IN" sz="2571" dirty="0">
              <a:solidFill>
                <a:prstClr val="black"/>
              </a:solidFill>
              <a:latin typeface="Abadi" panose="020B0604020104020204" pitchFamily="34" charset="0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D47D7F6-0A3E-4DE8-BB33-4A51BB7C0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44597" y="5715182"/>
          <a:ext cx="795667" cy="562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Acrobat Document" r:id="rId5" imgW="22707483" imgH="16039896" progId="AcroExch.Document.DC">
                  <p:embed/>
                </p:oleObj>
              </mc:Choice>
              <mc:Fallback>
                <p:oleObj name="Acrobat Document" r:id="rId5" imgW="22707483" imgH="16039896" progId="AcroExch.Document.DC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9D47D7F6-0A3E-4DE8-BB33-4A51BB7C0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44597" y="5715182"/>
                        <a:ext cx="795667" cy="562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A58B027-0213-4D4D-9929-C4E9F05624A4}"/>
              </a:ext>
            </a:extLst>
          </p:cNvPr>
          <p:cNvSpPr/>
          <p:nvPr/>
        </p:nvSpPr>
        <p:spPr>
          <a:xfrm>
            <a:off x="8505703" y="616209"/>
            <a:ext cx="1212979" cy="4789714"/>
          </a:xfrm>
          <a:custGeom>
            <a:avLst/>
            <a:gdLst>
              <a:gd name="connsiteX0" fmla="*/ 0 w 1698171"/>
              <a:gd name="connsiteY0" fmla="*/ 0 h 6705600"/>
              <a:gd name="connsiteX1" fmla="*/ 0 w 1698171"/>
              <a:gd name="connsiteY1" fmla="*/ 1988457 h 6705600"/>
              <a:gd name="connsiteX2" fmla="*/ 1422400 w 1698171"/>
              <a:gd name="connsiteY2" fmla="*/ 1988457 h 6705600"/>
              <a:gd name="connsiteX3" fmla="*/ 1422400 w 1698171"/>
              <a:gd name="connsiteY3" fmla="*/ 3077028 h 6705600"/>
              <a:gd name="connsiteX4" fmla="*/ 1698171 w 1698171"/>
              <a:gd name="connsiteY4" fmla="*/ 3077028 h 6705600"/>
              <a:gd name="connsiteX5" fmla="*/ 1698171 w 1698171"/>
              <a:gd name="connsiteY5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8171" h="6705600">
                <a:moveTo>
                  <a:pt x="0" y="0"/>
                </a:moveTo>
                <a:lnTo>
                  <a:pt x="0" y="1988457"/>
                </a:lnTo>
                <a:lnTo>
                  <a:pt x="1422400" y="1988457"/>
                </a:lnTo>
                <a:lnTo>
                  <a:pt x="1422400" y="3077028"/>
                </a:lnTo>
                <a:lnTo>
                  <a:pt x="1698171" y="3077028"/>
                </a:lnTo>
                <a:lnTo>
                  <a:pt x="1698171" y="6705600"/>
                </a:lnTo>
              </a:path>
            </a:pathLst>
          </a:custGeom>
          <a:noFill/>
          <a:ln w="28575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9FDE4EA-700E-413C-A976-74639EC048AE}"/>
              </a:ext>
            </a:extLst>
          </p:cNvPr>
          <p:cNvSpPr/>
          <p:nvPr/>
        </p:nvSpPr>
        <p:spPr>
          <a:xfrm>
            <a:off x="7565839" y="4419961"/>
            <a:ext cx="1302721" cy="694163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089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405AC5EF-7732-46FE-9C5B-B868A9B89DCB}"/>
              </a:ext>
            </a:extLst>
          </p:cNvPr>
          <p:cNvSpPr/>
          <p:nvPr/>
        </p:nvSpPr>
        <p:spPr>
          <a:xfrm rot="16200000">
            <a:off x="8020324" y="3807647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DE499390-4DF0-4B4F-A7BD-0DDDAE49DDCB}"/>
              </a:ext>
            </a:extLst>
          </p:cNvPr>
          <p:cNvSpPr/>
          <p:nvPr/>
        </p:nvSpPr>
        <p:spPr>
          <a:xfrm rot="10800000">
            <a:off x="7067985" y="4270290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3B8F5E02-CF79-4F3A-A6CF-A1E2FDF2B528}"/>
              </a:ext>
            </a:extLst>
          </p:cNvPr>
          <p:cNvSpPr/>
          <p:nvPr/>
        </p:nvSpPr>
        <p:spPr>
          <a:xfrm rot="10800000">
            <a:off x="11546389" y="4306576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50E73644-C0BE-4CDB-9721-81880B27CCFF}"/>
              </a:ext>
            </a:extLst>
          </p:cNvPr>
          <p:cNvSpPr/>
          <p:nvPr/>
        </p:nvSpPr>
        <p:spPr>
          <a:xfrm rot="10800000">
            <a:off x="11546389" y="3443490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CD5B41-0FE2-456B-866A-3F79EA1F095D}"/>
              </a:ext>
            </a:extLst>
          </p:cNvPr>
          <p:cNvSpPr txBox="1"/>
          <p:nvPr/>
        </p:nvSpPr>
        <p:spPr>
          <a:xfrm>
            <a:off x="7565839" y="3084287"/>
            <a:ext cx="1302721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PAYING OP </a:t>
            </a:r>
          </a:p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ENTRY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5C3756-48C9-4E8C-BBE2-C51514C31476}"/>
              </a:ext>
            </a:extLst>
          </p:cNvPr>
          <p:cNvSpPr txBox="1"/>
          <p:nvPr/>
        </p:nvSpPr>
        <p:spPr>
          <a:xfrm>
            <a:off x="6070107" y="4071024"/>
            <a:ext cx="1302721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PAYING IP </a:t>
            </a:r>
          </a:p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ENTRY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052686-E8C8-4781-A835-342D4059DF9B}"/>
              </a:ext>
            </a:extLst>
          </p:cNvPr>
          <p:cNvSpPr txBox="1"/>
          <p:nvPr/>
        </p:nvSpPr>
        <p:spPr>
          <a:xfrm>
            <a:off x="10574280" y="2874061"/>
            <a:ext cx="1302721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FREE IP </a:t>
            </a:r>
          </a:p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ENTRY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27C9B8-483F-42E6-871D-9BF858232091}"/>
              </a:ext>
            </a:extLst>
          </p:cNvPr>
          <p:cNvSpPr txBox="1"/>
          <p:nvPr/>
        </p:nvSpPr>
        <p:spPr>
          <a:xfrm>
            <a:off x="10574280" y="4470105"/>
            <a:ext cx="1302721" cy="619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FREE OP </a:t>
            </a:r>
          </a:p>
          <a:p>
            <a:pPr algn="ctr" defTabSz="326578"/>
            <a:r>
              <a:rPr lang="en-IN" sz="1714" dirty="0">
                <a:solidFill>
                  <a:srgbClr val="FF0000"/>
                </a:solidFill>
                <a:latin typeface="Calibri Light" panose="020F0302020204030204"/>
              </a:rPr>
              <a:t>ENTRY</a:t>
            </a:r>
          </a:p>
        </p:txBody>
      </p:sp>
    </p:spTree>
    <p:extLst>
      <p:ext uri="{BB962C8B-B14F-4D97-AF65-F5344CB8AC3E}">
        <p14:creationId xmlns:p14="http://schemas.microsoft.com/office/powerpoint/2010/main" val="171749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E03EF0C9-E0AA-4984-AC60-638771686F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7519" y="5670"/>
          <a:ext cx="9144000" cy="6458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E03EF0C9-E0AA-4984-AC60-638771686F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37519" y="5670"/>
                        <a:ext cx="9144000" cy="6458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B955B7C-02C1-424F-865A-D24B16EAA6FC}"/>
              </a:ext>
            </a:extLst>
          </p:cNvPr>
          <p:cNvSpPr/>
          <p:nvPr/>
        </p:nvSpPr>
        <p:spPr>
          <a:xfrm>
            <a:off x="8639561" y="607224"/>
            <a:ext cx="1212979" cy="4789714"/>
          </a:xfrm>
          <a:custGeom>
            <a:avLst/>
            <a:gdLst>
              <a:gd name="connsiteX0" fmla="*/ 0 w 1698171"/>
              <a:gd name="connsiteY0" fmla="*/ 0 h 6705600"/>
              <a:gd name="connsiteX1" fmla="*/ 0 w 1698171"/>
              <a:gd name="connsiteY1" fmla="*/ 1988457 h 6705600"/>
              <a:gd name="connsiteX2" fmla="*/ 1422400 w 1698171"/>
              <a:gd name="connsiteY2" fmla="*/ 1988457 h 6705600"/>
              <a:gd name="connsiteX3" fmla="*/ 1422400 w 1698171"/>
              <a:gd name="connsiteY3" fmla="*/ 3077028 h 6705600"/>
              <a:gd name="connsiteX4" fmla="*/ 1698171 w 1698171"/>
              <a:gd name="connsiteY4" fmla="*/ 3077028 h 6705600"/>
              <a:gd name="connsiteX5" fmla="*/ 1698171 w 1698171"/>
              <a:gd name="connsiteY5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8171" h="6705600">
                <a:moveTo>
                  <a:pt x="0" y="0"/>
                </a:moveTo>
                <a:lnTo>
                  <a:pt x="0" y="1988457"/>
                </a:lnTo>
                <a:lnTo>
                  <a:pt x="1422400" y="1988457"/>
                </a:lnTo>
                <a:lnTo>
                  <a:pt x="1422400" y="3077028"/>
                </a:lnTo>
                <a:lnTo>
                  <a:pt x="1698171" y="3077028"/>
                </a:lnTo>
                <a:lnTo>
                  <a:pt x="1698171" y="6705600"/>
                </a:lnTo>
              </a:path>
            </a:pathLst>
          </a:custGeom>
          <a:noFill/>
          <a:ln w="28575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A6B635A-2B4C-44D0-AD34-B1F244903301}"/>
              </a:ext>
            </a:extLst>
          </p:cNvPr>
          <p:cNvSpPr/>
          <p:nvPr/>
        </p:nvSpPr>
        <p:spPr>
          <a:xfrm>
            <a:off x="7098390" y="3647673"/>
            <a:ext cx="2474231" cy="868041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089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CADAF8E6-E678-4E12-921F-0D3C21161EFF}"/>
              </a:ext>
            </a:extLst>
          </p:cNvPr>
          <p:cNvSpPr/>
          <p:nvPr/>
        </p:nvSpPr>
        <p:spPr>
          <a:xfrm rot="16200000">
            <a:off x="8133447" y="3419284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47935A19-E981-42D4-8FBB-99CA488F442F}"/>
              </a:ext>
            </a:extLst>
          </p:cNvPr>
          <p:cNvSpPr/>
          <p:nvPr/>
        </p:nvSpPr>
        <p:spPr>
          <a:xfrm rot="10800000">
            <a:off x="6796222" y="4296618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0A2C5AF-E6D5-442B-A1BA-E0D0B83110C8}"/>
              </a:ext>
            </a:extLst>
          </p:cNvPr>
          <p:cNvSpPr/>
          <p:nvPr/>
        </p:nvSpPr>
        <p:spPr>
          <a:xfrm rot="10800000">
            <a:off x="11544177" y="4324804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C30AED0-5880-409F-8B95-B71389F94767}"/>
              </a:ext>
            </a:extLst>
          </p:cNvPr>
          <p:cNvSpPr/>
          <p:nvPr/>
        </p:nvSpPr>
        <p:spPr>
          <a:xfrm rot="10800000">
            <a:off x="11544177" y="3468522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D47D7F6-0A3E-4DE8-BB33-4A51BB7C0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57808" y="5715182"/>
          <a:ext cx="795667" cy="562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Acrobat Document" r:id="rId5" imgW="22707483" imgH="16039896" progId="AcroExch.Document.DC">
                  <p:embed/>
                </p:oleObj>
              </mc:Choice>
              <mc:Fallback>
                <p:oleObj name="Acrobat Document" r:id="rId5" imgW="22707483" imgH="16039896" progId="AcroExch.Document.DC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9D47D7F6-0A3E-4DE8-BB33-4A51BB7C0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857808" y="5715182"/>
                        <a:ext cx="795667" cy="562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94F4AD5-4A68-4369-89C5-692F381334A1}"/>
              </a:ext>
            </a:extLst>
          </p:cNvPr>
          <p:cNvSpPr txBox="1"/>
          <p:nvPr/>
        </p:nvSpPr>
        <p:spPr>
          <a:xfrm>
            <a:off x="43944" y="1341162"/>
            <a:ext cx="3114561" cy="3609771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defTabSz="326578"/>
            <a:r>
              <a:rPr lang="en-IN" sz="2857" b="1" dirty="0">
                <a:solidFill>
                  <a:srgbClr val="002060"/>
                </a:solidFill>
                <a:latin typeface="Abadi" panose="020B0604020104020204" pitchFamily="34" charset="0"/>
              </a:rPr>
              <a:t>Pre-waiting area</a:t>
            </a: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Waiting space is created outside the entrance</a:t>
            </a: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endParaRPr lang="en-IN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Used by the patients coming before the registration opens</a:t>
            </a: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endParaRPr lang="en-IN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Canteen can also be used as a pre waiting space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95985"/>
            <a:ext cx="9144000" cy="562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709718-104A-4652-8430-4BFBF61E360C}"/>
              </a:ext>
            </a:extLst>
          </p:cNvPr>
          <p:cNvSpPr txBox="1">
            <a:spLocks/>
          </p:cNvSpPr>
          <p:nvPr/>
        </p:nvSpPr>
        <p:spPr>
          <a:xfrm>
            <a:off x="1601224" y="6295985"/>
            <a:ext cx="8251112" cy="613283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18"/>
            <a:r>
              <a:rPr lang="en-IN" sz="2857" b="1" spc="-120" dirty="0">
                <a:solidFill>
                  <a:prstClr val="white"/>
                </a:solidFill>
                <a:latin typeface="Calibri Light" panose="020F0302020204030204"/>
              </a:rPr>
              <a:t>PRE-WAITING AREA</a:t>
            </a:r>
          </a:p>
        </p:txBody>
      </p:sp>
    </p:spTree>
    <p:extLst>
      <p:ext uri="{BB962C8B-B14F-4D97-AF65-F5344CB8AC3E}">
        <p14:creationId xmlns:p14="http://schemas.microsoft.com/office/powerpoint/2010/main" val="180885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B292E972-E828-4717-9386-B6940F1886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9029" y="13000"/>
          <a:ext cx="9154206" cy="6466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Acrobat Document" r:id="rId3" imgW="22707483" imgH="16039896" progId="AcroExch.Document.DC">
                  <p:embed/>
                </p:oleObj>
              </mc:Choice>
              <mc:Fallback>
                <p:oleObj name="Acrobat Document" r:id="rId3" imgW="22707483" imgH="16039896" progId="AcroExch.Document.DC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B292E972-E828-4717-9386-B6940F1886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9029" y="13000"/>
                        <a:ext cx="9154206" cy="6466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29F85C1-0904-425A-A864-014D87D8EB8F}"/>
              </a:ext>
            </a:extLst>
          </p:cNvPr>
          <p:cNvSpPr/>
          <p:nvPr/>
        </p:nvSpPr>
        <p:spPr>
          <a:xfrm>
            <a:off x="8493339" y="593894"/>
            <a:ext cx="1212979" cy="4789714"/>
          </a:xfrm>
          <a:custGeom>
            <a:avLst/>
            <a:gdLst>
              <a:gd name="connsiteX0" fmla="*/ 0 w 1698171"/>
              <a:gd name="connsiteY0" fmla="*/ 0 h 6705600"/>
              <a:gd name="connsiteX1" fmla="*/ 0 w 1698171"/>
              <a:gd name="connsiteY1" fmla="*/ 1988457 h 6705600"/>
              <a:gd name="connsiteX2" fmla="*/ 1422400 w 1698171"/>
              <a:gd name="connsiteY2" fmla="*/ 1988457 h 6705600"/>
              <a:gd name="connsiteX3" fmla="*/ 1422400 w 1698171"/>
              <a:gd name="connsiteY3" fmla="*/ 3077028 h 6705600"/>
              <a:gd name="connsiteX4" fmla="*/ 1698171 w 1698171"/>
              <a:gd name="connsiteY4" fmla="*/ 3077028 h 6705600"/>
              <a:gd name="connsiteX5" fmla="*/ 1698171 w 1698171"/>
              <a:gd name="connsiteY5" fmla="*/ 6705600 h 67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8171" h="6705600">
                <a:moveTo>
                  <a:pt x="0" y="0"/>
                </a:moveTo>
                <a:lnTo>
                  <a:pt x="0" y="1988457"/>
                </a:lnTo>
                <a:lnTo>
                  <a:pt x="1422400" y="1988457"/>
                </a:lnTo>
                <a:lnTo>
                  <a:pt x="1422400" y="3077028"/>
                </a:lnTo>
                <a:lnTo>
                  <a:pt x="1698171" y="3077028"/>
                </a:lnTo>
                <a:lnTo>
                  <a:pt x="1698171" y="6705600"/>
                </a:lnTo>
              </a:path>
            </a:pathLst>
          </a:custGeom>
          <a:noFill/>
          <a:ln w="28575"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CC51B92-0149-4DF9-A714-0DE9E5938480}"/>
              </a:ext>
            </a:extLst>
          </p:cNvPr>
          <p:cNvSpPr/>
          <p:nvPr/>
        </p:nvSpPr>
        <p:spPr>
          <a:xfrm rot="16200000">
            <a:off x="7987225" y="3426689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C283FF6-91AD-46CD-921F-1A57259FBF45}"/>
              </a:ext>
            </a:extLst>
          </p:cNvPr>
          <p:cNvSpPr/>
          <p:nvPr/>
        </p:nvSpPr>
        <p:spPr>
          <a:xfrm rot="10800000">
            <a:off x="6650001" y="4293656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9A7C725-0570-414E-87FA-879C5E0D0F6E}"/>
              </a:ext>
            </a:extLst>
          </p:cNvPr>
          <p:cNvSpPr/>
          <p:nvPr/>
        </p:nvSpPr>
        <p:spPr>
          <a:xfrm rot="10800000">
            <a:off x="11511997" y="4311475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12F74A0-2E57-454A-BA65-5EEC33F54851}"/>
              </a:ext>
            </a:extLst>
          </p:cNvPr>
          <p:cNvSpPr/>
          <p:nvPr/>
        </p:nvSpPr>
        <p:spPr>
          <a:xfrm rot="10800000">
            <a:off x="11511997" y="3455193"/>
            <a:ext cx="393751" cy="195036"/>
          </a:xfrm>
          <a:prstGeom prst="rightArrow">
            <a:avLst>
              <a:gd name="adj1" fmla="val 23256"/>
              <a:gd name="adj2" fmla="val 98837"/>
            </a:avLst>
          </a:prstGeom>
          <a:solidFill>
            <a:srgbClr val="FF000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D4F1FD9-DC60-46BF-9181-32386D7F47BF}"/>
              </a:ext>
            </a:extLst>
          </p:cNvPr>
          <p:cNvSpPr/>
          <p:nvPr/>
        </p:nvSpPr>
        <p:spPr>
          <a:xfrm>
            <a:off x="6585429" y="3659186"/>
            <a:ext cx="464905" cy="655150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089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5C88601-45CC-4934-B7B2-3B0F940426A1}"/>
              </a:ext>
            </a:extLst>
          </p:cNvPr>
          <p:cNvSpPr/>
          <p:nvPr/>
        </p:nvSpPr>
        <p:spPr>
          <a:xfrm>
            <a:off x="9343137" y="3651089"/>
            <a:ext cx="470481" cy="86213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089" dirty="0">
              <a:solidFill>
                <a:prstClr val="white"/>
              </a:solidFill>
              <a:latin typeface="Calibri Light" panose="020F0302020204030204"/>
            </a:endParaRPr>
          </a:p>
        </p:txBody>
      </p: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9D47D7F6-0A3E-4DE8-BB33-4A51BB7C01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25105" y="5715182"/>
          <a:ext cx="795667" cy="5620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Acrobat Document" r:id="rId5" imgW="22707483" imgH="16039896" progId="AcroExch.Document.DC">
                  <p:embed/>
                </p:oleObj>
              </mc:Choice>
              <mc:Fallback>
                <p:oleObj name="Acrobat Document" r:id="rId5" imgW="22707483" imgH="16039896" progId="AcroExch.Document.DC">
                  <p:embed/>
                  <p:pic>
                    <p:nvPicPr>
                      <p:cNvPr id="22" name="Object 21">
                        <a:extLst>
                          <a:ext uri="{FF2B5EF4-FFF2-40B4-BE49-F238E27FC236}">
                            <a16:creationId xmlns:a16="http://schemas.microsoft.com/office/drawing/2014/main" id="{9D47D7F6-0A3E-4DE8-BB33-4A51BB7C01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25105" y="5715182"/>
                        <a:ext cx="795667" cy="5620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764241F-4E3D-4E05-99DD-917B10EF1BD0}"/>
              </a:ext>
            </a:extLst>
          </p:cNvPr>
          <p:cNvSpPr/>
          <p:nvPr/>
        </p:nvSpPr>
        <p:spPr>
          <a:xfrm>
            <a:off x="1524000" y="6295985"/>
            <a:ext cx="9144000" cy="562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6578"/>
            <a:endParaRPr lang="en-IN" sz="1286" dirty="0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709718-104A-4652-8430-4BFBF61E360C}"/>
              </a:ext>
            </a:extLst>
          </p:cNvPr>
          <p:cNvSpPr txBox="1">
            <a:spLocks/>
          </p:cNvSpPr>
          <p:nvPr/>
        </p:nvSpPr>
        <p:spPr>
          <a:xfrm>
            <a:off x="1562506" y="6320513"/>
            <a:ext cx="8251112" cy="613283"/>
          </a:xfrm>
          <a:prstGeom prst="rect">
            <a:avLst/>
          </a:prstGeom>
        </p:spPr>
        <p:txBody>
          <a:bodyPr vert="horz" lIns="65314" tIns="32657" rIns="65314" bIns="32657" rtlCol="0" anchor="ctr">
            <a:normAutofit/>
          </a:bodyPr>
          <a:lstStyle>
            <a:lvl1pPr algn="l" defTabSz="12801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720" kern="1200" spc="-168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18"/>
            <a:r>
              <a:rPr lang="en-IN" sz="2857" b="1" spc="-120" dirty="0">
                <a:solidFill>
                  <a:prstClr val="white"/>
                </a:solidFill>
                <a:latin typeface="Calibri Light" panose="020F0302020204030204"/>
              </a:rPr>
              <a:t>OPTICAL SHOP,  PHARMACY AND BAGGAGE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5CE489-6A43-405B-AD3A-78F4A59BF497}"/>
              </a:ext>
            </a:extLst>
          </p:cNvPr>
          <p:cNvSpPr txBox="1"/>
          <p:nvPr/>
        </p:nvSpPr>
        <p:spPr>
          <a:xfrm>
            <a:off x="33808" y="737463"/>
            <a:ext cx="2980384" cy="4356770"/>
          </a:xfrm>
          <a:prstGeom prst="rect">
            <a:avLst/>
          </a:prstGeom>
          <a:solidFill>
            <a:srgbClr val="009999">
              <a:alpha val="25098"/>
            </a:srgbClr>
          </a:solidFill>
          <a:ln>
            <a:solidFill>
              <a:srgbClr val="009999">
                <a:alpha val="30196"/>
              </a:srgbClr>
            </a:solidFill>
          </a:ln>
        </p:spPr>
        <p:txBody>
          <a:bodyPr wrap="square" rtlCol="0">
            <a:spAutoFit/>
          </a:bodyPr>
          <a:lstStyle/>
          <a:p>
            <a:pPr defTabSz="326578"/>
            <a:r>
              <a:rPr lang="en-IN" sz="2571" b="1" dirty="0">
                <a:solidFill>
                  <a:srgbClr val="002060"/>
                </a:solidFill>
                <a:latin typeface="Abadi" panose="020B0604020104020204" pitchFamily="34" charset="0"/>
              </a:rPr>
              <a:t>Optical Shop, Pharmacy &amp; Baggage:</a:t>
            </a:r>
          </a:p>
          <a:p>
            <a:pPr defTabSz="326578"/>
            <a:endParaRPr lang="en-IN" sz="2857" u="sng" dirty="0">
              <a:solidFill>
                <a:srgbClr val="002060"/>
              </a:solidFill>
              <a:latin typeface="Calibri Light" panose="020F0302020204030204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Located near the entrance</a:t>
            </a: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endParaRPr lang="en-IN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Easy visibility</a:t>
            </a:r>
          </a:p>
          <a:p>
            <a:pPr defTabSz="326578"/>
            <a:endParaRPr lang="en-IN" sz="2000" dirty="0">
              <a:solidFill>
                <a:prstClr val="black"/>
              </a:solidFill>
              <a:latin typeface="Abadi" panose="020B0604020104020204" pitchFamily="34" charset="0"/>
            </a:endParaRPr>
          </a:p>
          <a:p>
            <a:pPr marL="244933" indent="-244933" defTabSz="326578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prstClr val="black"/>
                </a:solidFill>
                <a:latin typeface="Abadi" panose="020B0604020104020204" pitchFamily="34" charset="0"/>
              </a:rPr>
              <a:t>Easy accessibility</a:t>
            </a:r>
          </a:p>
          <a:p>
            <a:pPr defTabSz="326578"/>
            <a:endParaRPr lang="en-IN" sz="2571" dirty="0">
              <a:solidFill>
                <a:prstClr val="black"/>
              </a:solidFill>
              <a:latin typeface="Calibri Light" panose="020F0302020204030204"/>
            </a:endParaRPr>
          </a:p>
          <a:p>
            <a:pPr defTabSz="326578"/>
            <a:endParaRPr lang="en-IN" sz="2571" dirty="0">
              <a:solidFill>
                <a:prstClr val="black"/>
              </a:solidFill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0572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125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Abadi</vt:lpstr>
      <vt:lpstr>Arial</vt:lpstr>
      <vt:lpstr>Calibri</vt:lpstr>
      <vt:lpstr>Calibri Light</vt:lpstr>
      <vt:lpstr>Office Theme</vt:lpstr>
      <vt:lpstr>Metropolitan</vt:lpstr>
      <vt:lpstr>Acrobat Document</vt:lpstr>
      <vt:lpstr>Patient Amenities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Patient Amenities</dc:title>
  <dc:creator>Thulasiraj Ravilla</dc:creator>
  <cp:lastModifiedBy>Dharshini A</cp:lastModifiedBy>
  <cp:revision>7</cp:revision>
  <dcterms:created xsi:type="dcterms:W3CDTF">2021-07-25T15:06:10Z</dcterms:created>
  <dcterms:modified xsi:type="dcterms:W3CDTF">2026-02-06T12:21:23Z</dcterms:modified>
</cp:coreProperties>
</file>