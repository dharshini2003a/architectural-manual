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418" r:id="rId4"/>
    <p:sldId id="403" r:id="rId5"/>
    <p:sldId id="405" r:id="rId6"/>
    <p:sldId id="404" r:id="rId7"/>
    <p:sldId id="406" r:id="rId8"/>
    <p:sldId id="417" r:id="rId9"/>
    <p:sldId id="372" r:id="rId10"/>
    <p:sldId id="371" r:id="rId11"/>
    <p:sldId id="370" r:id="rId12"/>
    <p:sldId id="332" r:id="rId13"/>
    <p:sldId id="3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39B9-2EA1-4029-91AA-C84DC6BD2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CB740-7B63-4281-9E40-D180E61E3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60D30-F84C-4553-A355-7DAF209D7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BAE5-E6EF-4987-9A14-4BDFDC9B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E0A65-E65A-410F-B25E-778E2AEF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24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3AAB-D97A-4692-BB9C-6575727A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1D93-4C1C-4677-A84C-8D7B72951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C41BE-1AF8-4D9C-96D0-394C91EE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AEA3A-7CE5-4BA1-87E0-F8274DD5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676BA-3281-432A-ABC2-684D020E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2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5E89-2421-4E42-9B01-EF4A51B6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7690-66C9-4730-9DA5-8ECBD1595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E9785-3992-4A77-B6B2-D3DD7706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DC27-6782-44A6-ACED-538E5B0D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8B9CD-30A7-45D7-8AE8-27CC2D90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33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4634-CF26-42C5-B3E3-50B1CFAB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255DD-AB88-4231-9128-34E4C620A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D95CF-AFF1-4D63-9B0B-73D7540A7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EBA73-495A-4DFB-8E07-83EA7BB5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9FA0E-6601-4D65-AF7C-94B912B3D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49E8-8192-4D9A-802E-691811F5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61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BD56-ABDD-41FD-83F5-45339C29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A05E-F090-451C-BB23-D94EAA7E8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BB977-2B6D-43D5-AB6B-73390CD69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326BD-B660-4CAF-8290-60C700D86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5B280-9744-4129-9FE1-215606DC3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DECA8-E245-4BB3-8DFC-8FE2CA99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84436-FA42-4B7B-B28E-89F5EA07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7018F-8F97-498C-9856-2AD1BB78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16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14A4-C282-4F02-AAD5-DF7A3082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287C7-34E7-40F6-B1E8-B14D22F6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863B9-B444-4A29-B5BF-1ABE7CBF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FF83D-8499-4C16-9C7A-11B4A4A9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36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B1DFF-E468-464C-A66A-12D7BFE5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2D4C4-766F-45B2-AE9E-771AE59C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C59A6-226A-4216-B89C-F8F8E763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5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967A5-C319-4DB7-B961-60B5E6F7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B4CB-4BAE-4558-A600-CB4C3AB4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34758-288B-408B-B3BB-51DCDC0C0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382D1-E802-466E-B801-EB22E9FB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EF6DE-AF15-4541-B4F0-3FCB30DD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F9536-F43A-4204-884C-34E4E507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7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4D77-8429-4DA0-BA82-318D96D0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565DE-6908-485E-A4E3-DB12767B3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C15AB-C8B8-42D1-904B-4E8EC6205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42A01-30DC-42E1-B948-0990E557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57E59-6EF3-476B-A7E7-A2C84B03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30E49-2668-4C42-824C-A4A2B51B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169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392F-E98B-4BDE-BF88-5B357A76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84F3A-15B3-4E99-BD44-64DF3D57C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FC53-98A1-4F61-9458-37D673CC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5F1CC-B6CA-430E-AAFF-F8F3F3C0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20C38-D2ED-4600-AB9E-729DA4B8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85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151AC7-8149-4941-95AC-FDA3CA0B2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B329F-6141-4362-ACC0-A23AB6E5F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C4344-9FD8-4057-9EE0-7828BAF4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111AC-A164-4922-8EA7-372163A3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BFFF8-5140-4F44-BE60-1ACD5C0D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238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9" indent="0" algn="ctr">
              <a:buNone/>
              <a:defRPr sz="2800"/>
            </a:lvl2pPr>
            <a:lvl3pPr marL="914418" indent="0" algn="ctr">
              <a:buNone/>
              <a:defRPr sz="2400"/>
            </a:lvl3pPr>
            <a:lvl4pPr marL="1371627" indent="0" algn="ctr">
              <a:buNone/>
              <a:defRPr sz="2000"/>
            </a:lvl4pPr>
            <a:lvl5pPr marL="1828837" indent="0" algn="ctr">
              <a:buNone/>
              <a:defRPr sz="2000"/>
            </a:lvl5pPr>
            <a:lvl6pPr marL="2286046" indent="0" algn="ctr">
              <a:buNone/>
              <a:defRPr sz="2000"/>
            </a:lvl6pPr>
            <a:lvl7pPr marL="2743255" indent="0" algn="ctr">
              <a:buNone/>
              <a:defRPr sz="2000"/>
            </a:lvl7pPr>
            <a:lvl8pPr marL="3200464" indent="0" algn="ctr">
              <a:buNone/>
              <a:defRPr sz="2000"/>
            </a:lvl8pPr>
            <a:lvl9pPr marL="3657673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575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20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318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0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64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013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91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4"/>
            <a:ext cx="3398520" cy="3126987"/>
          </a:xfrm>
        </p:spPr>
        <p:txBody>
          <a:bodyPr>
            <a:normAutofit/>
          </a:bodyPr>
          <a:lstStyle>
            <a:lvl1pPr marL="0" marR="0" indent="0" algn="l" defTabSz="91441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marL="0" marR="0" lvl="0" indent="0" algn="l" defTabSz="914418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165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8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694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09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6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4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3E01E-3C51-420B-A337-12746D49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8D5E-26E6-4D21-B068-F2BADAE0E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35E79-EEC1-47F3-AA98-C5A67FDCB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3C03-5694-4482-9D9B-06C601A9FE64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9178D-BD75-4F95-82F7-D4C8F9644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53A0-A9C0-4C15-A040-200E11CED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C960B-4828-4747-A053-9C7943F2C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0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7" y="201168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3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7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18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2" indent="-91442" algn="l" defTabSz="914418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9" indent="-342907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51" indent="-548651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76" indent="-822976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302" indent="-1097302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24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28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32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36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43F9-5DF6-4E54-910A-5314A1627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630" y="1594413"/>
            <a:ext cx="11509612" cy="1655762"/>
          </a:xfrm>
        </p:spPr>
        <p:txBody>
          <a:bodyPr>
            <a:normAutofit/>
          </a:bodyPr>
          <a:lstStyle/>
          <a:p>
            <a:r>
              <a:rPr lang="en-IN">
                <a:latin typeface="Abadi" panose="020B0604020104020204" pitchFamily="34" charset="0"/>
                <a:cs typeface="Aharoni" panose="02010803020104030203" pitchFamily="2" charset="-79"/>
              </a:rPr>
              <a:t>Phasing </a:t>
            </a:r>
            <a:r>
              <a:rPr lang="en-IN" dirty="0">
                <a:latin typeface="Abadi" panose="020B0604020104020204" pitchFamily="34" charset="0"/>
                <a:cs typeface="Aharoni" panose="02010803020104030203" pitchFamily="2" charset="-79"/>
              </a:rPr>
              <a:t>&amp; Scope for Expansion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600E5C-54E2-4797-A5F0-1281BD08F458}"/>
              </a:ext>
            </a:extLst>
          </p:cNvPr>
          <p:cNvCxnSpPr>
            <a:cxnSpLocks/>
          </p:cNvCxnSpPr>
          <p:nvPr/>
        </p:nvCxnSpPr>
        <p:spPr>
          <a:xfrm>
            <a:off x="98628" y="3404848"/>
            <a:ext cx="12167616" cy="24152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7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29FBA-4A82-4B5F-AE9B-538687CA99F4}"/>
              </a:ext>
            </a:extLst>
          </p:cNvPr>
          <p:cNvSpPr/>
          <p:nvPr/>
        </p:nvSpPr>
        <p:spPr>
          <a:xfrm>
            <a:off x="1476498" y="0"/>
            <a:ext cx="6118215" cy="6857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CF12F37-B51C-4814-A945-DA358916D782}"/>
              </a:ext>
            </a:extLst>
          </p:cNvPr>
          <p:cNvSpPr txBox="1">
            <a:spLocks/>
          </p:cNvSpPr>
          <p:nvPr/>
        </p:nvSpPr>
        <p:spPr>
          <a:xfrm>
            <a:off x="1683223" y="2782082"/>
            <a:ext cx="6118216" cy="16898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6000" spc="-120" dirty="0">
                <a:solidFill>
                  <a:prstClr val="white"/>
                </a:solidFill>
                <a:latin typeface="Abadi" panose="020B0604020104020204" pitchFamily="34" charset="0"/>
              </a:rPr>
              <a:t>OP CLINICS</a:t>
            </a:r>
          </a:p>
          <a:p>
            <a:pPr defTabSz="914418"/>
            <a:r>
              <a:rPr lang="en-IN" sz="6000" spc="-120" dirty="0">
                <a:solidFill>
                  <a:prstClr val="white"/>
                </a:solidFill>
                <a:latin typeface="Abadi" panose="020B0604020104020204" pitchFamily="34" charset="0"/>
              </a:rPr>
              <a:t>PHASING</a:t>
            </a:r>
          </a:p>
        </p:txBody>
      </p:sp>
    </p:spTree>
    <p:extLst>
      <p:ext uri="{BB962C8B-B14F-4D97-AF65-F5344CB8AC3E}">
        <p14:creationId xmlns:p14="http://schemas.microsoft.com/office/powerpoint/2010/main" val="3501616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FB69D14-6CFF-45DB-B94C-64F23F1F2B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6831" y="11943"/>
          <a:ext cx="9144000" cy="645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8FB69D14-6CFF-45DB-B94C-64F23F1F2B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6831" y="11943"/>
                        <a:ext cx="9144000" cy="645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FC1257D-40D7-4FCC-B001-D4F13903EE21}"/>
              </a:ext>
            </a:extLst>
          </p:cNvPr>
          <p:cNvSpPr/>
          <p:nvPr/>
        </p:nvSpPr>
        <p:spPr>
          <a:xfrm>
            <a:off x="5121368" y="854982"/>
            <a:ext cx="2531206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1193C3-4580-473E-A68A-36F868343B68}"/>
              </a:ext>
            </a:extLst>
          </p:cNvPr>
          <p:cNvSpPr/>
          <p:nvPr/>
        </p:nvSpPr>
        <p:spPr>
          <a:xfrm>
            <a:off x="8287946" y="868266"/>
            <a:ext cx="1370064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2DF582-80E7-40BB-BF31-7D739A755C6D}"/>
              </a:ext>
            </a:extLst>
          </p:cNvPr>
          <p:cNvSpPr/>
          <p:nvPr/>
        </p:nvSpPr>
        <p:spPr>
          <a:xfrm>
            <a:off x="9471628" y="868267"/>
            <a:ext cx="1370064" cy="115660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B9C6F-C9C4-4635-9034-F5C820DDBFE7}"/>
              </a:ext>
            </a:extLst>
          </p:cNvPr>
          <p:cNvSpPr/>
          <p:nvPr/>
        </p:nvSpPr>
        <p:spPr>
          <a:xfrm>
            <a:off x="8277579" y="2616630"/>
            <a:ext cx="1370064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10639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10639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990347" y="6291205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spc="-120" dirty="0">
                <a:solidFill>
                  <a:prstClr val="white"/>
                </a:solidFill>
                <a:latin typeface="Calibri Light" panose="020F0302020204030204"/>
              </a:rPr>
              <a:t>OP CLINICS – PHASE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BCC16-D540-463F-87AB-6106E5775D7E}"/>
              </a:ext>
            </a:extLst>
          </p:cNvPr>
          <p:cNvSpPr txBox="1"/>
          <p:nvPr/>
        </p:nvSpPr>
        <p:spPr>
          <a:xfrm>
            <a:off x="149087" y="1657053"/>
            <a:ext cx="2794931" cy="3258200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Occupying ground floor only (for 40% of total patient load)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Paying clinics – 4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Free clinic – 1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EFF1FAB-E768-44E9-B923-BBB85B6CF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3057" y="11668"/>
          <a:ext cx="9144000" cy="645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BEFF1FAB-E768-44E9-B923-BBB85B6CF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3057" y="11668"/>
                        <a:ext cx="9144000" cy="645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0B9FA651-A5A3-45E3-AFB5-DBB254DE45ED}"/>
              </a:ext>
            </a:extLst>
          </p:cNvPr>
          <p:cNvSpPr/>
          <p:nvPr/>
        </p:nvSpPr>
        <p:spPr>
          <a:xfrm>
            <a:off x="5264112" y="849734"/>
            <a:ext cx="2578092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82C35-DB5E-4867-9581-296F61EBE982}"/>
              </a:ext>
            </a:extLst>
          </p:cNvPr>
          <p:cNvSpPr/>
          <p:nvPr/>
        </p:nvSpPr>
        <p:spPr>
          <a:xfrm>
            <a:off x="8419915" y="830036"/>
            <a:ext cx="2578092" cy="115660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CB4148-4A9A-436C-9F14-3C168A7A546A}"/>
              </a:ext>
            </a:extLst>
          </p:cNvPr>
          <p:cNvSpPr/>
          <p:nvPr/>
        </p:nvSpPr>
        <p:spPr>
          <a:xfrm>
            <a:off x="8438057" y="2604320"/>
            <a:ext cx="1370064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56865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56865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990347" y="6291205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spc="-120" dirty="0">
                <a:solidFill>
                  <a:prstClr val="white"/>
                </a:solidFill>
                <a:latin typeface="Calibri Light" panose="020F0302020204030204"/>
              </a:rPr>
              <a:t>OP CLINICS – PHASE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BCC16-D540-463F-87AB-6106E5775D7E}"/>
              </a:ext>
            </a:extLst>
          </p:cNvPr>
          <p:cNvSpPr txBox="1"/>
          <p:nvPr/>
        </p:nvSpPr>
        <p:spPr>
          <a:xfrm>
            <a:off x="203266" y="1657191"/>
            <a:ext cx="2808990" cy="3345916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Occupying both ground  &amp; first floor (for 70% of the total load)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Paying Clinics – 7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Free Clinics - 2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23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A96D62E-D935-4EBC-825F-4090367DCB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0106" y="11944"/>
          <a:ext cx="9144000" cy="645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EA96D62E-D935-4EBC-825F-4090367DC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106" y="11944"/>
                        <a:ext cx="9144000" cy="645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0A44C79-2E0A-4E0A-A5CF-CE49495EA889}"/>
              </a:ext>
            </a:extLst>
          </p:cNvPr>
          <p:cNvSpPr/>
          <p:nvPr/>
        </p:nvSpPr>
        <p:spPr>
          <a:xfrm>
            <a:off x="6173835" y="868589"/>
            <a:ext cx="1379228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F9E297-939A-4C01-A00D-090C56E8AD07}"/>
              </a:ext>
            </a:extLst>
          </p:cNvPr>
          <p:cNvSpPr/>
          <p:nvPr/>
        </p:nvSpPr>
        <p:spPr>
          <a:xfrm>
            <a:off x="8167742" y="841375"/>
            <a:ext cx="1379228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F1FF1D-BAAC-432A-80C7-8E7A8054D01F}"/>
              </a:ext>
            </a:extLst>
          </p:cNvPr>
          <p:cNvSpPr/>
          <p:nvPr/>
        </p:nvSpPr>
        <p:spPr>
          <a:xfrm>
            <a:off x="6187442" y="2620314"/>
            <a:ext cx="1186321" cy="1400598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23EAED-230E-4948-941A-C85923E91488}"/>
              </a:ext>
            </a:extLst>
          </p:cNvPr>
          <p:cNvSpPr/>
          <p:nvPr/>
        </p:nvSpPr>
        <p:spPr>
          <a:xfrm>
            <a:off x="8360650" y="2613510"/>
            <a:ext cx="1186321" cy="1400598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83914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83914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990347" y="6291205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spc="-120" dirty="0">
                <a:solidFill>
                  <a:prstClr val="white"/>
                </a:solidFill>
                <a:latin typeface="Calibri Light" panose="020F0302020204030204"/>
              </a:rPr>
              <a:t>OP CLINICS – PHASE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BCC16-D540-463F-87AB-6106E5775D7E}"/>
              </a:ext>
            </a:extLst>
          </p:cNvPr>
          <p:cNvSpPr txBox="1"/>
          <p:nvPr/>
        </p:nvSpPr>
        <p:spPr>
          <a:xfrm>
            <a:off x="152343" y="804089"/>
            <a:ext cx="2599956" cy="3697679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Occupying both ground  &amp; first floor (for 70% of the total load)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Paying Clinics – 7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Free Clinics - 2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50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1305134-FD56-4FAE-83AC-B1934E7578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9534" y="11388"/>
          <a:ext cx="9144000" cy="645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1305134-FD56-4FAE-83AC-B1934E7578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9534" y="11388"/>
                        <a:ext cx="9144000" cy="645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BF76E926-DA29-406B-9DEC-4D14FF566005}"/>
              </a:ext>
            </a:extLst>
          </p:cNvPr>
          <p:cNvSpPr/>
          <p:nvPr/>
        </p:nvSpPr>
        <p:spPr>
          <a:xfrm>
            <a:off x="5417677" y="830684"/>
            <a:ext cx="2540000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AABDE7-98E5-4B2C-A783-42EBF60ED1A3}"/>
              </a:ext>
            </a:extLst>
          </p:cNvPr>
          <p:cNvSpPr/>
          <p:nvPr/>
        </p:nvSpPr>
        <p:spPr>
          <a:xfrm>
            <a:off x="8582680" y="820317"/>
            <a:ext cx="2498161" cy="115660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0F7DE5-F1D3-477A-B426-ED5969075A77}"/>
              </a:ext>
            </a:extLst>
          </p:cNvPr>
          <p:cNvSpPr/>
          <p:nvPr/>
        </p:nvSpPr>
        <p:spPr>
          <a:xfrm>
            <a:off x="6556049" y="2589893"/>
            <a:ext cx="1397094" cy="2379956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AFDF04-AD53-4D20-80EB-EAABB9520884}"/>
              </a:ext>
            </a:extLst>
          </p:cNvPr>
          <p:cNvSpPr/>
          <p:nvPr/>
        </p:nvSpPr>
        <p:spPr>
          <a:xfrm>
            <a:off x="8582680" y="2535432"/>
            <a:ext cx="1386031" cy="2455151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93342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93342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990347" y="6291205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spc="-120" dirty="0">
                <a:solidFill>
                  <a:prstClr val="white"/>
                </a:solidFill>
                <a:latin typeface="Calibri Light" panose="020F0302020204030204"/>
              </a:rPr>
              <a:t>OP CLINICS – PHASE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BCC16-D540-463F-87AB-6106E5775D7E}"/>
              </a:ext>
            </a:extLst>
          </p:cNvPr>
          <p:cNvSpPr txBox="1"/>
          <p:nvPr/>
        </p:nvSpPr>
        <p:spPr>
          <a:xfrm>
            <a:off x="152283" y="1278672"/>
            <a:ext cx="2904816" cy="3302058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Occupying both ground  &amp; first floor (for 100% of the total load)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Paying Clinics – 11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Abadi" panose="020B0604020104020204" pitchFamily="34" charset="0"/>
              </a:rPr>
              <a:t>Free Clinics - 2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83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29FBA-4A82-4B5F-AE9B-538687CA99F4}"/>
              </a:ext>
            </a:extLst>
          </p:cNvPr>
          <p:cNvSpPr/>
          <p:nvPr/>
        </p:nvSpPr>
        <p:spPr>
          <a:xfrm>
            <a:off x="1442115" y="0"/>
            <a:ext cx="5091848" cy="6857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CF12F37-B51C-4814-A945-DA358916D782}"/>
              </a:ext>
            </a:extLst>
          </p:cNvPr>
          <p:cNvSpPr txBox="1">
            <a:spLocks/>
          </p:cNvSpPr>
          <p:nvPr/>
        </p:nvSpPr>
        <p:spPr>
          <a:xfrm>
            <a:off x="1542198" y="2435602"/>
            <a:ext cx="5091848" cy="232196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6857" spc="-120" dirty="0">
                <a:solidFill>
                  <a:prstClr val="white"/>
                </a:solidFill>
                <a:latin typeface="Abadi" panose="020B0604020104020204" pitchFamily="34" charset="0"/>
              </a:rPr>
              <a:t>EXPANSION </a:t>
            </a:r>
          </a:p>
          <a:p>
            <a:pPr defTabSz="914418"/>
            <a:r>
              <a:rPr lang="en-IN" sz="6857" spc="-120" dirty="0">
                <a:solidFill>
                  <a:prstClr val="white"/>
                </a:solidFill>
                <a:latin typeface="Abadi" panose="020B0604020104020204" pitchFamily="34" charset="0"/>
              </a:rPr>
              <a:t>POSSIBILITIES</a:t>
            </a:r>
          </a:p>
        </p:txBody>
      </p:sp>
    </p:spTree>
    <p:extLst>
      <p:ext uri="{BB962C8B-B14F-4D97-AF65-F5344CB8AC3E}">
        <p14:creationId xmlns:p14="http://schemas.microsoft.com/office/powerpoint/2010/main" val="3135497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8E19F2-6732-45E4-82C8-34D2143F70A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2C9D96-3B7A-4F93-BD8C-F9B25346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819" y="6175880"/>
            <a:ext cx="8227310" cy="682121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BUILDING CONFIGURATION - EXPANSION POSSIBILITIES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CB9C0D-1A63-42BD-A938-ED67ABFEB788}"/>
              </a:ext>
            </a:extLst>
          </p:cNvPr>
          <p:cNvGrpSpPr/>
          <p:nvPr/>
        </p:nvGrpSpPr>
        <p:grpSpPr>
          <a:xfrm>
            <a:off x="1529968" y="11553"/>
            <a:ext cx="9089459" cy="6233164"/>
            <a:chOff x="8355" y="16174"/>
            <a:chExt cx="12725242" cy="8726430"/>
          </a:xfrm>
        </p:grpSpPr>
        <p:graphicFrame>
          <p:nvGraphicFramePr>
            <p:cNvPr id="26" name="Object 25">
              <a:extLst>
                <a:ext uri="{FF2B5EF4-FFF2-40B4-BE49-F238E27FC236}">
                  <a16:creationId xmlns:a16="http://schemas.microsoft.com/office/drawing/2014/main" id="{31A11519-C005-4B5D-A922-F0CD3E39E8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55" y="16174"/>
            <a:ext cx="12354326" cy="8726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Acrobat Document" r:id="rId3" imgW="22707483" imgH="16039896" progId="AcroExch.Document.DC">
                    <p:embed/>
                  </p:oleObj>
                </mc:Choice>
                <mc:Fallback>
                  <p:oleObj name="Acrobat Document" r:id="rId3" imgW="22707483" imgH="16039896" progId="AcroExch.Document.DC">
                    <p:embed/>
                    <p:pic>
                      <p:nvPicPr>
                        <p:cNvPr id="26" name="Object 25">
                          <a:extLst>
                            <a:ext uri="{FF2B5EF4-FFF2-40B4-BE49-F238E27FC236}">
                              <a16:creationId xmlns:a16="http://schemas.microsoft.com/office/drawing/2014/main" id="{31A11519-C005-4B5D-A922-F0CD3E39E8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355" y="16174"/>
                          <a:ext cx="12354326" cy="87264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B9B14DB-24DF-40D1-AFCE-E417B6C5DE45}"/>
                </a:ext>
              </a:extLst>
            </p:cNvPr>
            <p:cNvSpPr txBox="1"/>
            <p:nvPr/>
          </p:nvSpPr>
          <p:spPr>
            <a:xfrm>
              <a:off x="530261" y="7648455"/>
              <a:ext cx="3848100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u="sng" dirty="0">
                  <a:solidFill>
                    <a:prstClr val="black"/>
                  </a:solidFill>
                  <a:latin typeface="Calibri Light" panose="020F0302020204030204"/>
                </a:rPr>
                <a:t>BASEMENT FLOOR</a:t>
              </a:r>
              <a:endParaRPr lang="en-IN" sz="1714" dirty="0">
                <a:solidFill>
                  <a:prstClr val="black"/>
                </a:solidFill>
                <a:latin typeface="Calibri Light" panose="020F0302020204030204"/>
              </a:endParaRP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PARKING   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5E9F86-1724-48B6-B233-52444F611443}"/>
                </a:ext>
              </a:extLst>
            </p:cNvPr>
            <p:cNvSpPr txBox="1"/>
            <p:nvPr/>
          </p:nvSpPr>
          <p:spPr>
            <a:xfrm>
              <a:off x="534327" y="6023011"/>
              <a:ext cx="4628541" cy="123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u="sng" dirty="0">
                  <a:solidFill>
                    <a:prstClr val="black"/>
                  </a:solidFill>
                  <a:latin typeface="Calibri Light" panose="020F0302020204030204"/>
                </a:rPr>
                <a:t>GROUND FLOOR</a:t>
              </a:r>
              <a:endParaRPr lang="en-IN" sz="1714" dirty="0">
                <a:solidFill>
                  <a:prstClr val="black"/>
                </a:solidFill>
                <a:latin typeface="Calibri Light" panose="020F0302020204030204"/>
              </a:endParaRP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OP , IP REGISTRATION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&amp; OP CLINICS (PAYING &amp; FREE) 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FF6381-0657-4A3C-AE6F-ED86C02FAC5C}"/>
                </a:ext>
              </a:extLst>
            </p:cNvPr>
            <p:cNvSpPr txBox="1"/>
            <p:nvPr/>
          </p:nvSpPr>
          <p:spPr>
            <a:xfrm>
              <a:off x="534327" y="4751408"/>
              <a:ext cx="4628543" cy="123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u="sng" dirty="0">
                  <a:solidFill>
                    <a:prstClr val="black"/>
                  </a:solidFill>
                  <a:latin typeface="Calibri Light" panose="020F0302020204030204"/>
                </a:rPr>
                <a:t>FIRST FLOOR</a:t>
              </a:r>
              <a:endParaRPr lang="en-IN" sz="1714" dirty="0">
                <a:solidFill>
                  <a:prstClr val="black"/>
                </a:solidFill>
                <a:latin typeface="Calibri Light" panose="020F0302020204030204"/>
              </a:endParaRP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OP CLINICS (PAYING)</a:t>
              </a:r>
            </a:p>
            <a:p>
              <a:pPr defTabSz="326578"/>
              <a:endParaRPr lang="en-IN" sz="1714" dirty="0">
                <a:solidFill>
                  <a:prstClr val="black"/>
                </a:solidFill>
                <a:latin typeface="Calibri Light" panose="020F030202020403020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DFF611-6C17-4F85-AB3D-B078EC5ECB39}"/>
                </a:ext>
              </a:extLst>
            </p:cNvPr>
            <p:cNvSpPr txBox="1"/>
            <p:nvPr/>
          </p:nvSpPr>
          <p:spPr>
            <a:xfrm>
              <a:off x="530261" y="3340975"/>
              <a:ext cx="3848100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u="sng" dirty="0">
                  <a:solidFill>
                    <a:prstClr val="black"/>
                  </a:solidFill>
                  <a:latin typeface="Calibri Light" panose="020F0302020204030204"/>
                </a:rPr>
                <a:t>SECOND FLOOR</a:t>
              </a:r>
              <a:endParaRPr lang="en-IN" sz="1714" dirty="0">
                <a:solidFill>
                  <a:prstClr val="black"/>
                </a:solidFill>
                <a:latin typeface="Calibri Light" panose="020F0302020204030204"/>
              </a:endParaRP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IP ROOMS &amp; WARDS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D825E4-3546-46BA-A63E-EF546114FC17}"/>
                </a:ext>
              </a:extLst>
            </p:cNvPr>
            <p:cNvSpPr txBox="1"/>
            <p:nvPr/>
          </p:nvSpPr>
          <p:spPr>
            <a:xfrm>
              <a:off x="530261" y="1870930"/>
              <a:ext cx="3848100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u="sng" dirty="0">
                  <a:solidFill>
                    <a:prstClr val="black"/>
                  </a:solidFill>
                  <a:latin typeface="Calibri Light" panose="020F0302020204030204"/>
                </a:rPr>
                <a:t>THIRD FLOOR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OT COMPLEX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B273926-F7F2-4485-ADAA-BAD9A19A179F}"/>
                </a:ext>
              </a:extLst>
            </p:cNvPr>
            <p:cNvSpPr txBox="1"/>
            <p:nvPr/>
          </p:nvSpPr>
          <p:spPr>
            <a:xfrm>
              <a:off x="530261" y="437438"/>
              <a:ext cx="4375623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u="sng" dirty="0">
                  <a:solidFill>
                    <a:prstClr val="black"/>
                  </a:solidFill>
                  <a:latin typeface="Calibri Light" panose="020F0302020204030204"/>
                </a:rPr>
                <a:t>FOURTH FLOOR</a:t>
              </a:r>
              <a:endParaRPr lang="en-IN" sz="1714" dirty="0">
                <a:solidFill>
                  <a:prstClr val="black"/>
                </a:solidFill>
                <a:latin typeface="Calibri Light" panose="020F0302020204030204"/>
              </a:endParaRP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TEACHING &amp; TRAINING FACILTY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965EFB-BEE3-439D-BDED-63634DB86611}"/>
                </a:ext>
              </a:extLst>
            </p:cNvPr>
            <p:cNvSpPr txBox="1"/>
            <p:nvPr/>
          </p:nvSpPr>
          <p:spPr>
            <a:xfrm>
              <a:off x="8356720" y="3313976"/>
              <a:ext cx="4376877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AVAILABLE FOOT PRINT – 11%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(FOR EXPANSION) 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4DA14E-0C11-415D-9AF7-640E4834BC17}"/>
                </a:ext>
              </a:extLst>
            </p:cNvPr>
            <p:cNvSpPr txBox="1"/>
            <p:nvPr/>
          </p:nvSpPr>
          <p:spPr>
            <a:xfrm>
              <a:off x="8356720" y="1866833"/>
              <a:ext cx="4376877" cy="123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AVAILABLE FOOT PRINT – 18%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(FOR EXPANSION)  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 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F1DD63-BE43-419B-B4C8-F94289C71CA0}"/>
                </a:ext>
              </a:extLst>
            </p:cNvPr>
            <p:cNvSpPr txBox="1"/>
            <p:nvPr/>
          </p:nvSpPr>
          <p:spPr>
            <a:xfrm>
              <a:off x="8356720" y="436482"/>
              <a:ext cx="4376877" cy="123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AVAILABLE FOOT PRINT – 36%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(FOR EXPANSION)  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 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04A3B4-C03E-49EE-8088-97B92B3C3397}"/>
                </a:ext>
              </a:extLst>
            </p:cNvPr>
            <p:cNvSpPr txBox="1"/>
            <p:nvPr/>
          </p:nvSpPr>
          <p:spPr>
            <a:xfrm>
              <a:off x="8356720" y="4724427"/>
              <a:ext cx="4376877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AVAILABLE FOOT PRINT – 18%</a:t>
              </a:r>
            </a:p>
            <a:p>
              <a:pPr defTabSz="326578"/>
              <a:r>
                <a:rPr lang="en-IN" sz="1714" dirty="0">
                  <a:solidFill>
                    <a:prstClr val="black"/>
                  </a:solidFill>
                  <a:latin typeface="Calibri Light" panose="020F0302020204030204"/>
                </a:rPr>
                <a:t>(FOR EXPANSION)  </a:t>
              </a:r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45996C95-17EA-4D2C-8347-0BCD9BB6C03A}"/>
                </a:ext>
              </a:extLst>
            </p:cNvPr>
            <p:cNvSpPr/>
            <p:nvPr/>
          </p:nvSpPr>
          <p:spPr>
            <a:xfrm>
              <a:off x="4557713" y="5357813"/>
              <a:ext cx="1047750" cy="476250"/>
            </a:xfrm>
            <a:custGeom>
              <a:avLst/>
              <a:gdLst>
                <a:gd name="connsiteX0" fmla="*/ 395287 w 1047750"/>
                <a:gd name="connsiteY0" fmla="*/ 0 h 476250"/>
                <a:gd name="connsiteX1" fmla="*/ 1047750 w 1047750"/>
                <a:gd name="connsiteY1" fmla="*/ 385762 h 476250"/>
                <a:gd name="connsiteX2" fmla="*/ 876300 w 1047750"/>
                <a:gd name="connsiteY2" fmla="*/ 476250 h 476250"/>
                <a:gd name="connsiteX3" fmla="*/ 309562 w 1047750"/>
                <a:gd name="connsiteY3" fmla="*/ 428625 h 476250"/>
                <a:gd name="connsiteX4" fmla="*/ 9525 w 1047750"/>
                <a:gd name="connsiteY4" fmla="*/ 247650 h 476250"/>
                <a:gd name="connsiteX5" fmla="*/ 0 w 1047750"/>
                <a:gd name="connsiteY5" fmla="*/ 238125 h 476250"/>
                <a:gd name="connsiteX6" fmla="*/ 395287 w 1047750"/>
                <a:gd name="connsiteY6" fmla="*/ 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0" h="476250">
                  <a:moveTo>
                    <a:pt x="395287" y="0"/>
                  </a:moveTo>
                  <a:lnTo>
                    <a:pt x="1047750" y="385762"/>
                  </a:lnTo>
                  <a:lnTo>
                    <a:pt x="876300" y="476250"/>
                  </a:lnTo>
                  <a:lnTo>
                    <a:pt x="309562" y="428625"/>
                  </a:lnTo>
                  <a:lnTo>
                    <a:pt x="9525" y="247650"/>
                  </a:lnTo>
                  <a:lnTo>
                    <a:pt x="0" y="238125"/>
                  </a:lnTo>
                  <a:lnTo>
                    <a:pt x="395287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74516F4-07D8-4629-99DA-BA88E6E9CB72}"/>
                </a:ext>
              </a:extLst>
            </p:cNvPr>
            <p:cNvSpPr/>
            <p:nvPr/>
          </p:nvSpPr>
          <p:spPr>
            <a:xfrm>
              <a:off x="5867400" y="5394325"/>
              <a:ext cx="571500" cy="434975"/>
            </a:xfrm>
            <a:custGeom>
              <a:avLst/>
              <a:gdLst>
                <a:gd name="connsiteX0" fmla="*/ 193675 w 571500"/>
                <a:gd name="connsiteY0" fmla="*/ 0 h 434975"/>
                <a:gd name="connsiteX1" fmla="*/ 571500 w 571500"/>
                <a:gd name="connsiteY1" fmla="*/ 225425 h 434975"/>
                <a:gd name="connsiteX2" fmla="*/ 196850 w 571500"/>
                <a:gd name="connsiteY2" fmla="*/ 434975 h 434975"/>
                <a:gd name="connsiteX3" fmla="*/ 0 w 571500"/>
                <a:gd name="connsiteY3" fmla="*/ 307975 h 434975"/>
                <a:gd name="connsiteX4" fmla="*/ 244475 w 571500"/>
                <a:gd name="connsiteY4" fmla="*/ 158750 h 434975"/>
                <a:gd name="connsiteX5" fmla="*/ 101600 w 571500"/>
                <a:gd name="connsiteY5" fmla="*/ 57150 h 434975"/>
                <a:gd name="connsiteX6" fmla="*/ 193675 w 571500"/>
                <a:gd name="connsiteY6" fmla="*/ 0 h 43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0" h="434975">
                  <a:moveTo>
                    <a:pt x="193675" y="0"/>
                  </a:moveTo>
                  <a:lnTo>
                    <a:pt x="571500" y="225425"/>
                  </a:lnTo>
                  <a:lnTo>
                    <a:pt x="196850" y="434975"/>
                  </a:lnTo>
                  <a:lnTo>
                    <a:pt x="0" y="307975"/>
                  </a:lnTo>
                  <a:lnTo>
                    <a:pt x="244475" y="158750"/>
                  </a:lnTo>
                  <a:lnTo>
                    <a:pt x="101600" y="57150"/>
                  </a:lnTo>
                  <a:lnTo>
                    <a:pt x="193675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F770193-1E63-4F3D-9544-B9F4C6E887CD}"/>
                </a:ext>
              </a:extLst>
            </p:cNvPr>
            <p:cNvSpPr/>
            <p:nvPr/>
          </p:nvSpPr>
          <p:spPr>
            <a:xfrm>
              <a:off x="6850856" y="4736306"/>
              <a:ext cx="709613" cy="423863"/>
            </a:xfrm>
            <a:custGeom>
              <a:avLst/>
              <a:gdLst>
                <a:gd name="connsiteX0" fmla="*/ 0 w 709613"/>
                <a:gd name="connsiteY0" fmla="*/ 209550 h 423863"/>
                <a:gd name="connsiteX1" fmla="*/ 361950 w 709613"/>
                <a:gd name="connsiteY1" fmla="*/ 423863 h 423863"/>
                <a:gd name="connsiteX2" fmla="*/ 709613 w 709613"/>
                <a:gd name="connsiteY2" fmla="*/ 214313 h 423863"/>
                <a:gd name="connsiteX3" fmla="*/ 611982 w 709613"/>
                <a:gd name="connsiteY3" fmla="*/ 154782 h 423863"/>
                <a:gd name="connsiteX4" fmla="*/ 709613 w 709613"/>
                <a:gd name="connsiteY4" fmla="*/ 90488 h 423863"/>
                <a:gd name="connsiteX5" fmla="*/ 559594 w 709613"/>
                <a:gd name="connsiteY5" fmla="*/ 0 h 423863"/>
                <a:gd name="connsiteX6" fmla="*/ 402432 w 709613"/>
                <a:gd name="connsiteY6" fmla="*/ 92869 h 423863"/>
                <a:gd name="connsiteX7" fmla="*/ 300038 w 709613"/>
                <a:gd name="connsiteY7" fmla="*/ 30957 h 423863"/>
                <a:gd name="connsiteX8" fmla="*/ 0 w 709613"/>
                <a:gd name="connsiteY8" fmla="*/ 209550 h 4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9613" h="423863">
                  <a:moveTo>
                    <a:pt x="0" y="209550"/>
                  </a:moveTo>
                  <a:lnTo>
                    <a:pt x="361950" y="423863"/>
                  </a:lnTo>
                  <a:lnTo>
                    <a:pt x="709613" y="214313"/>
                  </a:lnTo>
                  <a:lnTo>
                    <a:pt x="611982" y="154782"/>
                  </a:lnTo>
                  <a:lnTo>
                    <a:pt x="709613" y="90488"/>
                  </a:lnTo>
                  <a:lnTo>
                    <a:pt x="559594" y="0"/>
                  </a:lnTo>
                  <a:lnTo>
                    <a:pt x="402432" y="92869"/>
                  </a:lnTo>
                  <a:lnTo>
                    <a:pt x="300038" y="30957"/>
                  </a:lnTo>
                  <a:lnTo>
                    <a:pt x="0" y="20955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C4F82F-DD70-436C-9A0F-C6AB6ACB6DC8}"/>
                </a:ext>
              </a:extLst>
            </p:cNvPr>
            <p:cNvSpPr/>
            <p:nvPr/>
          </p:nvSpPr>
          <p:spPr>
            <a:xfrm>
              <a:off x="6136481" y="3798094"/>
              <a:ext cx="616744" cy="426244"/>
            </a:xfrm>
            <a:custGeom>
              <a:avLst/>
              <a:gdLst>
                <a:gd name="connsiteX0" fmla="*/ 0 w 616744"/>
                <a:gd name="connsiteY0" fmla="*/ 159544 h 426244"/>
                <a:gd name="connsiteX1" fmla="*/ 192882 w 616744"/>
                <a:gd name="connsiteY1" fmla="*/ 278606 h 426244"/>
                <a:gd name="connsiteX2" fmla="*/ 100013 w 616744"/>
                <a:gd name="connsiteY2" fmla="*/ 338137 h 426244"/>
                <a:gd name="connsiteX3" fmla="*/ 242888 w 616744"/>
                <a:gd name="connsiteY3" fmla="*/ 426244 h 426244"/>
                <a:gd name="connsiteX4" fmla="*/ 588169 w 616744"/>
                <a:gd name="connsiteY4" fmla="*/ 223837 h 426244"/>
                <a:gd name="connsiteX5" fmla="*/ 616744 w 616744"/>
                <a:gd name="connsiteY5" fmla="*/ 209550 h 426244"/>
                <a:gd name="connsiteX6" fmla="*/ 242888 w 616744"/>
                <a:gd name="connsiteY6" fmla="*/ 0 h 426244"/>
                <a:gd name="connsiteX7" fmla="*/ 0 w 616744"/>
                <a:gd name="connsiteY7" fmla="*/ 159544 h 42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6744" h="426244">
                  <a:moveTo>
                    <a:pt x="0" y="159544"/>
                  </a:moveTo>
                  <a:lnTo>
                    <a:pt x="192882" y="278606"/>
                  </a:lnTo>
                  <a:lnTo>
                    <a:pt x="100013" y="338137"/>
                  </a:lnTo>
                  <a:lnTo>
                    <a:pt x="242888" y="426244"/>
                  </a:lnTo>
                  <a:lnTo>
                    <a:pt x="588169" y="223837"/>
                  </a:lnTo>
                  <a:lnTo>
                    <a:pt x="616744" y="209550"/>
                  </a:lnTo>
                  <a:lnTo>
                    <a:pt x="242888" y="0"/>
                  </a:lnTo>
                  <a:lnTo>
                    <a:pt x="0" y="159544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58BF1D-7D69-4D8C-A42A-62A009871324}"/>
                </a:ext>
              </a:extLst>
            </p:cNvPr>
            <p:cNvSpPr/>
            <p:nvPr/>
          </p:nvSpPr>
          <p:spPr>
            <a:xfrm>
              <a:off x="6531769" y="3562350"/>
              <a:ext cx="719137" cy="371475"/>
            </a:xfrm>
            <a:custGeom>
              <a:avLst/>
              <a:gdLst>
                <a:gd name="connsiteX0" fmla="*/ 0 w 719137"/>
                <a:gd name="connsiteY0" fmla="*/ 154781 h 371475"/>
                <a:gd name="connsiteX1" fmla="*/ 369094 w 719137"/>
                <a:gd name="connsiteY1" fmla="*/ 371475 h 371475"/>
                <a:gd name="connsiteX2" fmla="*/ 719137 w 719137"/>
                <a:gd name="connsiteY2" fmla="*/ 161925 h 371475"/>
                <a:gd name="connsiteX3" fmla="*/ 566737 w 719137"/>
                <a:gd name="connsiteY3" fmla="*/ 69056 h 371475"/>
                <a:gd name="connsiteX4" fmla="*/ 466725 w 719137"/>
                <a:gd name="connsiteY4" fmla="*/ 123825 h 371475"/>
                <a:gd name="connsiteX5" fmla="*/ 252412 w 719137"/>
                <a:gd name="connsiteY5" fmla="*/ 0 h 371475"/>
                <a:gd name="connsiteX6" fmla="*/ 0 w 719137"/>
                <a:gd name="connsiteY6" fmla="*/ 15478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137" h="371475">
                  <a:moveTo>
                    <a:pt x="0" y="154781"/>
                  </a:moveTo>
                  <a:lnTo>
                    <a:pt x="369094" y="371475"/>
                  </a:lnTo>
                  <a:lnTo>
                    <a:pt x="719137" y="161925"/>
                  </a:lnTo>
                  <a:lnTo>
                    <a:pt x="566737" y="69056"/>
                  </a:lnTo>
                  <a:lnTo>
                    <a:pt x="466725" y="123825"/>
                  </a:lnTo>
                  <a:lnTo>
                    <a:pt x="252412" y="0"/>
                  </a:lnTo>
                  <a:lnTo>
                    <a:pt x="0" y="15478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433F57A-E912-4216-8B98-37B44FDCA29D}"/>
                </a:ext>
              </a:extLst>
            </p:cNvPr>
            <p:cNvSpPr/>
            <p:nvPr/>
          </p:nvSpPr>
          <p:spPr>
            <a:xfrm>
              <a:off x="4964905" y="2276475"/>
              <a:ext cx="485775" cy="269171"/>
            </a:xfrm>
            <a:custGeom>
              <a:avLst/>
              <a:gdLst>
                <a:gd name="connsiteX0" fmla="*/ 0 w 488156"/>
                <a:gd name="connsiteY0" fmla="*/ 100013 h 295275"/>
                <a:gd name="connsiteX1" fmla="*/ 169069 w 488156"/>
                <a:gd name="connsiteY1" fmla="*/ 0 h 295275"/>
                <a:gd name="connsiteX2" fmla="*/ 488156 w 488156"/>
                <a:gd name="connsiteY2" fmla="*/ 183356 h 295275"/>
                <a:gd name="connsiteX3" fmla="*/ 311944 w 488156"/>
                <a:gd name="connsiteY3" fmla="*/ 295275 h 295275"/>
                <a:gd name="connsiteX4" fmla="*/ 0 w 488156"/>
                <a:gd name="connsiteY4" fmla="*/ 100013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156" h="295275">
                  <a:moveTo>
                    <a:pt x="0" y="100013"/>
                  </a:moveTo>
                  <a:lnTo>
                    <a:pt x="169069" y="0"/>
                  </a:lnTo>
                  <a:lnTo>
                    <a:pt x="488156" y="183356"/>
                  </a:lnTo>
                  <a:lnTo>
                    <a:pt x="311944" y="295275"/>
                  </a:lnTo>
                  <a:lnTo>
                    <a:pt x="0" y="100013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878BF9-4A71-49C5-BB7F-1D3DEDB103C8}"/>
                </a:ext>
              </a:extLst>
            </p:cNvPr>
            <p:cNvSpPr/>
            <p:nvPr/>
          </p:nvSpPr>
          <p:spPr>
            <a:xfrm>
              <a:off x="5274467" y="2577838"/>
              <a:ext cx="485775" cy="269171"/>
            </a:xfrm>
            <a:custGeom>
              <a:avLst/>
              <a:gdLst>
                <a:gd name="connsiteX0" fmla="*/ 0 w 488156"/>
                <a:gd name="connsiteY0" fmla="*/ 100013 h 295275"/>
                <a:gd name="connsiteX1" fmla="*/ 169069 w 488156"/>
                <a:gd name="connsiteY1" fmla="*/ 0 h 295275"/>
                <a:gd name="connsiteX2" fmla="*/ 488156 w 488156"/>
                <a:gd name="connsiteY2" fmla="*/ 183356 h 295275"/>
                <a:gd name="connsiteX3" fmla="*/ 311944 w 488156"/>
                <a:gd name="connsiteY3" fmla="*/ 295275 h 295275"/>
                <a:gd name="connsiteX4" fmla="*/ 0 w 488156"/>
                <a:gd name="connsiteY4" fmla="*/ 100013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156" h="295275">
                  <a:moveTo>
                    <a:pt x="0" y="100013"/>
                  </a:moveTo>
                  <a:lnTo>
                    <a:pt x="169069" y="0"/>
                  </a:lnTo>
                  <a:lnTo>
                    <a:pt x="488156" y="183356"/>
                  </a:lnTo>
                  <a:lnTo>
                    <a:pt x="311944" y="295275"/>
                  </a:lnTo>
                  <a:lnTo>
                    <a:pt x="0" y="100013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E5BE331-D1D1-4C4F-9BC2-F0C04F67D8F1}"/>
                </a:ext>
              </a:extLst>
            </p:cNvPr>
            <p:cNvSpPr/>
            <p:nvPr/>
          </p:nvSpPr>
          <p:spPr>
            <a:xfrm>
              <a:off x="5605463" y="2505075"/>
              <a:ext cx="402431" cy="240506"/>
            </a:xfrm>
            <a:custGeom>
              <a:avLst/>
              <a:gdLst>
                <a:gd name="connsiteX0" fmla="*/ 250031 w 402431"/>
                <a:gd name="connsiteY0" fmla="*/ 0 h 240506"/>
                <a:gd name="connsiteX1" fmla="*/ 0 w 402431"/>
                <a:gd name="connsiteY1" fmla="*/ 147638 h 240506"/>
                <a:gd name="connsiteX2" fmla="*/ 154781 w 402431"/>
                <a:gd name="connsiteY2" fmla="*/ 240506 h 240506"/>
                <a:gd name="connsiteX3" fmla="*/ 402431 w 402431"/>
                <a:gd name="connsiteY3" fmla="*/ 97631 h 240506"/>
                <a:gd name="connsiteX4" fmla="*/ 250031 w 402431"/>
                <a:gd name="connsiteY4" fmla="*/ 0 h 24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431" h="240506">
                  <a:moveTo>
                    <a:pt x="250031" y="0"/>
                  </a:moveTo>
                  <a:lnTo>
                    <a:pt x="0" y="147638"/>
                  </a:lnTo>
                  <a:lnTo>
                    <a:pt x="154781" y="240506"/>
                  </a:lnTo>
                  <a:lnTo>
                    <a:pt x="402431" y="97631"/>
                  </a:lnTo>
                  <a:lnTo>
                    <a:pt x="25003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5126C0B-24A5-4F43-A414-EBD0E16D4BFA}"/>
                </a:ext>
              </a:extLst>
            </p:cNvPr>
            <p:cNvSpPr/>
            <p:nvPr/>
          </p:nvSpPr>
          <p:spPr>
            <a:xfrm>
              <a:off x="6745048" y="1854858"/>
              <a:ext cx="402431" cy="240506"/>
            </a:xfrm>
            <a:custGeom>
              <a:avLst/>
              <a:gdLst>
                <a:gd name="connsiteX0" fmla="*/ 250031 w 402431"/>
                <a:gd name="connsiteY0" fmla="*/ 0 h 240506"/>
                <a:gd name="connsiteX1" fmla="*/ 0 w 402431"/>
                <a:gd name="connsiteY1" fmla="*/ 147638 h 240506"/>
                <a:gd name="connsiteX2" fmla="*/ 154781 w 402431"/>
                <a:gd name="connsiteY2" fmla="*/ 240506 h 240506"/>
                <a:gd name="connsiteX3" fmla="*/ 402431 w 402431"/>
                <a:gd name="connsiteY3" fmla="*/ 97631 h 240506"/>
                <a:gd name="connsiteX4" fmla="*/ 250031 w 402431"/>
                <a:gd name="connsiteY4" fmla="*/ 0 h 24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431" h="240506">
                  <a:moveTo>
                    <a:pt x="250031" y="0"/>
                  </a:moveTo>
                  <a:lnTo>
                    <a:pt x="0" y="147638"/>
                  </a:lnTo>
                  <a:lnTo>
                    <a:pt x="154781" y="240506"/>
                  </a:lnTo>
                  <a:lnTo>
                    <a:pt x="402431" y="97631"/>
                  </a:lnTo>
                  <a:lnTo>
                    <a:pt x="25003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772B66-FF39-4364-8DF4-29C049F5FD98}"/>
                </a:ext>
              </a:extLst>
            </p:cNvPr>
            <p:cNvSpPr/>
            <p:nvPr/>
          </p:nvSpPr>
          <p:spPr>
            <a:xfrm>
              <a:off x="5810250" y="2508250"/>
              <a:ext cx="628650" cy="501650"/>
            </a:xfrm>
            <a:custGeom>
              <a:avLst/>
              <a:gdLst>
                <a:gd name="connsiteX0" fmla="*/ 361950 w 628650"/>
                <a:gd name="connsiteY0" fmla="*/ 0 h 501650"/>
                <a:gd name="connsiteX1" fmla="*/ 622300 w 628650"/>
                <a:gd name="connsiteY1" fmla="*/ 149225 h 501650"/>
                <a:gd name="connsiteX2" fmla="*/ 511175 w 628650"/>
                <a:gd name="connsiteY2" fmla="*/ 215900 h 501650"/>
                <a:gd name="connsiteX3" fmla="*/ 628650 w 628650"/>
                <a:gd name="connsiteY3" fmla="*/ 279400 h 501650"/>
                <a:gd name="connsiteX4" fmla="*/ 250825 w 628650"/>
                <a:gd name="connsiteY4" fmla="*/ 501650 h 501650"/>
                <a:gd name="connsiteX5" fmla="*/ 0 w 628650"/>
                <a:gd name="connsiteY5" fmla="*/ 339725 h 501650"/>
                <a:gd name="connsiteX6" fmla="*/ 117475 w 628650"/>
                <a:gd name="connsiteY6" fmla="*/ 266700 h 501650"/>
                <a:gd name="connsiteX7" fmla="*/ 165100 w 628650"/>
                <a:gd name="connsiteY7" fmla="*/ 295275 h 501650"/>
                <a:gd name="connsiteX8" fmla="*/ 292100 w 628650"/>
                <a:gd name="connsiteY8" fmla="*/ 219075 h 501650"/>
                <a:gd name="connsiteX9" fmla="*/ 158750 w 628650"/>
                <a:gd name="connsiteY9" fmla="*/ 136525 h 501650"/>
                <a:gd name="connsiteX10" fmla="*/ 361950 w 628650"/>
                <a:gd name="connsiteY10" fmla="*/ 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8650" h="501650">
                  <a:moveTo>
                    <a:pt x="361950" y="0"/>
                  </a:moveTo>
                  <a:lnTo>
                    <a:pt x="622300" y="149225"/>
                  </a:lnTo>
                  <a:lnTo>
                    <a:pt x="511175" y="215900"/>
                  </a:lnTo>
                  <a:lnTo>
                    <a:pt x="628650" y="279400"/>
                  </a:lnTo>
                  <a:lnTo>
                    <a:pt x="250825" y="501650"/>
                  </a:lnTo>
                  <a:lnTo>
                    <a:pt x="0" y="339725"/>
                  </a:lnTo>
                  <a:lnTo>
                    <a:pt x="117475" y="266700"/>
                  </a:lnTo>
                  <a:lnTo>
                    <a:pt x="165100" y="295275"/>
                  </a:lnTo>
                  <a:lnTo>
                    <a:pt x="292100" y="219075"/>
                  </a:lnTo>
                  <a:lnTo>
                    <a:pt x="158750" y="136525"/>
                  </a:lnTo>
                  <a:lnTo>
                    <a:pt x="36195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9C2488F-26F8-4D24-8FB2-9BDED79856ED}"/>
                </a:ext>
              </a:extLst>
            </p:cNvPr>
            <p:cNvSpPr/>
            <p:nvPr/>
          </p:nvSpPr>
          <p:spPr>
            <a:xfrm>
              <a:off x="6727187" y="1905000"/>
              <a:ext cx="851538" cy="453516"/>
            </a:xfrm>
            <a:custGeom>
              <a:avLst/>
              <a:gdLst>
                <a:gd name="connsiteX0" fmla="*/ 38100 w 866775"/>
                <a:gd name="connsiteY0" fmla="*/ 254000 h 447675"/>
                <a:gd name="connsiteX1" fmla="*/ 0 w 866775"/>
                <a:gd name="connsiteY1" fmla="*/ 269875 h 447675"/>
                <a:gd name="connsiteX2" fmla="*/ 295275 w 866775"/>
                <a:gd name="connsiteY2" fmla="*/ 447675 h 447675"/>
                <a:gd name="connsiteX3" fmla="*/ 393700 w 866775"/>
                <a:gd name="connsiteY3" fmla="*/ 384175 h 447675"/>
                <a:gd name="connsiteX4" fmla="*/ 498475 w 866775"/>
                <a:gd name="connsiteY4" fmla="*/ 444500 h 447675"/>
                <a:gd name="connsiteX5" fmla="*/ 866775 w 866775"/>
                <a:gd name="connsiteY5" fmla="*/ 228600 h 447675"/>
                <a:gd name="connsiteX6" fmla="*/ 762000 w 866775"/>
                <a:gd name="connsiteY6" fmla="*/ 161925 h 447675"/>
                <a:gd name="connsiteX7" fmla="*/ 863600 w 866775"/>
                <a:gd name="connsiteY7" fmla="*/ 98425 h 447675"/>
                <a:gd name="connsiteX8" fmla="*/ 692150 w 866775"/>
                <a:gd name="connsiteY8" fmla="*/ 0 h 447675"/>
                <a:gd name="connsiteX9" fmla="*/ 492125 w 866775"/>
                <a:gd name="connsiteY9" fmla="*/ 130175 h 447675"/>
                <a:gd name="connsiteX10" fmla="*/ 536575 w 866775"/>
                <a:gd name="connsiteY10" fmla="*/ 149225 h 447675"/>
                <a:gd name="connsiteX11" fmla="*/ 396875 w 866775"/>
                <a:gd name="connsiteY11" fmla="*/ 234950 h 447675"/>
                <a:gd name="connsiteX12" fmla="*/ 247650 w 866775"/>
                <a:gd name="connsiteY12" fmla="*/ 149225 h 447675"/>
                <a:gd name="connsiteX13" fmla="*/ 38100 w 866775"/>
                <a:gd name="connsiteY13" fmla="*/ 254000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6775" h="447675">
                  <a:moveTo>
                    <a:pt x="38100" y="254000"/>
                  </a:moveTo>
                  <a:lnTo>
                    <a:pt x="0" y="269875"/>
                  </a:lnTo>
                  <a:lnTo>
                    <a:pt x="295275" y="447675"/>
                  </a:lnTo>
                  <a:lnTo>
                    <a:pt x="393700" y="384175"/>
                  </a:lnTo>
                  <a:lnTo>
                    <a:pt x="498475" y="444500"/>
                  </a:lnTo>
                  <a:lnTo>
                    <a:pt x="866775" y="228600"/>
                  </a:lnTo>
                  <a:lnTo>
                    <a:pt x="762000" y="161925"/>
                  </a:lnTo>
                  <a:lnTo>
                    <a:pt x="863600" y="98425"/>
                  </a:lnTo>
                  <a:lnTo>
                    <a:pt x="692150" y="0"/>
                  </a:lnTo>
                  <a:lnTo>
                    <a:pt x="492125" y="130175"/>
                  </a:lnTo>
                  <a:lnTo>
                    <a:pt x="536575" y="149225"/>
                  </a:lnTo>
                  <a:lnTo>
                    <a:pt x="396875" y="234950"/>
                  </a:lnTo>
                  <a:lnTo>
                    <a:pt x="247650" y="149225"/>
                  </a:lnTo>
                  <a:lnTo>
                    <a:pt x="38100" y="2540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endParaRPr lang="en-IN" sz="1286" dirty="0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6EA270E-5F53-4C18-9A44-09498D9E34EA}"/>
                </a:ext>
              </a:extLst>
            </p:cNvPr>
            <p:cNvSpPr/>
            <p:nvPr/>
          </p:nvSpPr>
          <p:spPr>
            <a:xfrm>
              <a:off x="4946650" y="67034"/>
              <a:ext cx="1857375" cy="1075966"/>
            </a:xfrm>
            <a:custGeom>
              <a:avLst/>
              <a:gdLst>
                <a:gd name="connsiteX0" fmla="*/ 1543050 w 1885950"/>
                <a:gd name="connsiteY0" fmla="*/ 0 h 1101725"/>
                <a:gd name="connsiteX1" fmla="*/ 1885950 w 1885950"/>
                <a:gd name="connsiteY1" fmla="*/ 203200 h 1101725"/>
                <a:gd name="connsiteX2" fmla="*/ 349250 w 1885950"/>
                <a:gd name="connsiteY2" fmla="*/ 1101725 h 1101725"/>
                <a:gd name="connsiteX3" fmla="*/ 0 w 1885950"/>
                <a:gd name="connsiteY3" fmla="*/ 901700 h 1101725"/>
                <a:gd name="connsiteX4" fmla="*/ 1543050 w 1885950"/>
                <a:gd name="connsiteY4" fmla="*/ 0 h 110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5950" h="1101725">
                  <a:moveTo>
                    <a:pt x="1543050" y="0"/>
                  </a:moveTo>
                  <a:lnTo>
                    <a:pt x="1885950" y="203200"/>
                  </a:lnTo>
                  <a:lnTo>
                    <a:pt x="349250" y="1101725"/>
                  </a:lnTo>
                  <a:lnTo>
                    <a:pt x="0" y="901700"/>
                  </a:lnTo>
                  <a:lnTo>
                    <a:pt x="154305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  <a:effectLst>
              <a:glow rad="1397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6578"/>
              <a:r>
                <a:rPr lang="en-IN" sz="1286" dirty="0">
                  <a:solidFill>
                    <a:prstClr val="white"/>
                  </a:solidFill>
                  <a:latin typeface="Calibri Light" panose="020F0302020204030204"/>
                </a:rPr>
                <a:t> 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A73C4D8-6B10-4989-A25B-FE4575A810F9}"/>
              </a:ext>
            </a:extLst>
          </p:cNvPr>
          <p:cNvSpPr txBox="1"/>
          <p:nvPr/>
        </p:nvSpPr>
        <p:spPr>
          <a:xfrm>
            <a:off x="4297432" y="4375224"/>
            <a:ext cx="872774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CEC5D4-2FE5-4201-A039-D89980101CA4}"/>
              </a:ext>
            </a:extLst>
          </p:cNvPr>
          <p:cNvSpPr txBox="1"/>
          <p:nvPr/>
        </p:nvSpPr>
        <p:spPr>
          <a:xfrm>
            <a:off x="4281270" y="3349629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2860C-5ADA-421A-BC07-C49B4E1F52C1}"/>
              </a:ext>
            </a:extLst>
          </p:cNvPr>
          <p:cNvSpPr txBox="1"/>
          <p:nvPr/>
        </p:nvSpPr>
        <p:spPr>
          <a:xfrm>
            <a:off x="4293967" y="2379781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54B2F0-D71D-429F-AF82-4ED720B916FC}"/>
              </a:ext>
            </a:extLst>
          </p:cNvPr>
          <p:cNvSpPr txBox="1"/>
          <p:nvPr/>
        </p:nvSpPr>
        <p:spPr>
          <a:xfrm>
            <a:off x="4293967" y="1357804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C3AD3C-3CC7-44C1-B09E-86A6F140A195}"/>
              </a:ext>
            </a:extLst>
          </p:cNvPr>
          <p:cNvSpPr txBox="1"/>
          <p:nvPr/>
        </p:nvSpPr>
        <p:spPr>
          <a:xfrm>
            <a:off x="4273577" y="332970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0655BE-4AF6-447E-B7DC-EC1088FCB91D}"/>
              </a:ext>
            </a:extLst>
          </p:cNvPr>
          <p:cNvSpPr txBox="1"/>
          <p:nvPr/>
        </p:nvSpPr>
        <p:spPr>
          <a:xfrm>
            <a:off x="4281269" y="5472266"/>
            <a:ext cx="872774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-1</a:t>
            </a:r>
          </a:p>
        </p:txBody>
      </p:sp>
    </p:spTree>
    <p:extLst>
      <p:ext uri="{BB962C8B-B14F-4D97-AF65-F5344CB8AC3E}">
        <p14:creationId xmlns:p14="http://schemas.microsoft.com/office/powerpoint/2010/main" val="235442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8E19F2-6732-45E4-82C8-34D2143F70A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2C9D96-3B7A-4F93-BD8C-F9B25346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819" y="6175880"/>
            <a:ext cx="8227310" cy="682121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EXPANSION POSSIBILITY</a:t>
            </a: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3A32498-AD99-492D-B244-F54056AE1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1323" y="2768"/>
          <a:ext cx="8722451" cy="616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3A32498-AD99-492D-B244-F54056AE13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1323" y="2768"/>
                        <a:ext cx="8722451" cy="61610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0EB441-EF4D-469D-9F09-6FEFDAE4BCAA}"/>
              </a:ext>
            </a:extLst>
          </p:cNvPr>
          <p:cNvSpPr/>
          <p:nvPr/>
        </p:nvSpPr>
        <p:spPr>
          <a:xfrm>
            <a:off x="4143376" y="3473502"/>
            <a:ext cx="1255259" cy="1251857"/>
          </a:xfrm>
          <a:custGeom>
            <a:avLst/>
            <a:gdLst>
              <a:gd name="connsiteX0" fmla="*/ 0 w 1757363"/>
              <a:gd name="connsiteY0" fmla="*/ 809625 h 1752600"/>
              <a:gd name="connsiteX1" fmla="*/ 0 w 1757363"/>
              <a:gd name="connsiteY1" fmla="*/ 1752600 h 1752600"/>
              <a:gd name="connsiteX2" fmla="*/ 1757363 w 1757363"/>
              <a:gd name="connsiteY2" fmla="*/ 1752600 h 1752600"/>
              <a:gd name="connsiteX3" fmla="*/ 1757363 w 1757363"/>
              <a:gd name="connsiteY3" fmla="*/ 0 h 1752600"/>
              <a:gd name="connsiteX4" fmla="*/ 1371600 w 1757363"/>
              <a:gd name="connsiteY4" fmla="*/ 0 h 1752600"/>
              <a:gd name="connsiteX5" fmla="*/ 1371600 w 1757363"/>
              <a:gd name="connsiteY5" fmla="*/ 819150 h 1752600"/>
              <a:gd name="connsiteX6" fmla="*/ 0 w 1757363"/>
              <a:gd name="connsiteY6" fmla="*/ 809625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7363" h="1752600">
                <a:moveTo>
                  <a:pt x="0" y="809625"/>
                </a:moveTo>
                <a:lnTo>
                  <a:pt x="0" y="1752600"/>
                </a:lnTo>
                <a:lnTo>
                  <a:pt x="1757363" y="1752600"/>
                </a:lnTo>
                <a:lnTo>
                  <a:pt x="1757363" y="0"/>
                </a:lnTo>
                <a:lnTo>
                  <a:pt x="1371600" y="0"/>
                </a:lnTo>
                <a:lnTo>
                  <a:pt x="1371600" y="819150"/>
                </a:lnTo>
                <a:lnTo>
                  <a:pt x="0" y="809625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290BD1-328D-4AC4-A504-7AA37CF2292F}"/>
              </a:ext>
            </a:extLst>
          </p:cNvPr>
          <p:cNvSpPr/>
          <p:nvPr/>
        </p:nvSpPr>
        <p:spPr>
          <a:xfrm>
            <a:off x="8425543" y="3488871"/>
            <a:ext cx="1632857" cy="1257300"/>
          </a:xfrm>
          <a:custGeom>
            <a:avLst/>
            <a:gdLst>
              <a:gd name="connsiteX0" fmla="*/ 0 w 2286000"/>
              <a:gd name="connsiteY0" fmla="*/ 0 h 1760220"/>
              <a:gd name="connsiteX1" fmla="*/ 0 w 2286000"/>
              <a:gd name="connsiteY1" fmla="*/ 1760220 h 1760220"/>
              <a:gd name="connsiteX2" fmla="*/ 1760220 w 2286000"/>
              <a:gd name="connsiteY2" fmla="*/ 1760220 h 1760220"/>
              <a:gd name="connsiteX3" fmla="*/ 1760220 w 2286000"/>
              <a:gd name="connsiteY3" fmla="*/ 1219200 h 1760220"/>
              <a:gd name="connsiteX4" fmla="*/ 2286000 w 2286000"/>
              <a:gd name="connsiteY4" fmla="*/ 1219200 h 1760220"/>
              <a:gd name="connsiteX5" fmla="*/ 2286000 w 2286000"/>
              <a:gd name="connsiteY5" fmla="*/ 541020 h 1760220"/>
              <a:gd name="connsiteX6" fmla="*/ 381000 w 2286000"/>
              <a:gd name="connsiteY6" fmla="*/ 541020 h 1760220"/>
              <a:gd name="connsiteX7" fmla="*/ 381000 w 2286000"/>
              <a:gd name="connsiteY7" fmla="*/ 7620 h 1760220"/>
              <a:gd name="connsiteX8" fmla="*/ 0 w 2286000"/>
              <a:gd name="connsiteY8" fmla="*/ 0 h 17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6000" h="1760220">
                <a:moveTo>
                  <a:pt x="0" y="0"/>
                </a:moveTo>
                <a:lnTo>
                  <a:pt x="0" y="1760220"/>
                </a:lnTo>
                <a:lnTo>
                  <a:pt x="1760220" y="1760220"/>
                </a:lnTo>
                <a:lnTo>
                  <a:pt x="1760220" y="1219200"/>
                </a:lnTo>
                <a:lnTo>
                  <a:pt x="2286000" y="1219200"/>
                </a:lnTo>
                <a:lnTo>
                  <a:pt x="2286000" y="541020"/>
                </a:lnTo>
                <a:lnTo>
                  <a:pt x="381000" y="541020"/>
                </a:lnTo>
                <a:lnTo>
                  <a:pt x="381000" y="762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6F45B82-7A8A-4EAF-8D8F-D4476023FCB9}"/>
              </a:ext>
            </a:extLst>
          </p:cNvPr>
          <p:cNvSpPr/>
          <p:nvPr/>
        </p:nvSpPr>
        <p:spPr>
          <a:xfrm>
            <a:off x="2116753" y="1365639"/>
            <a:ext cx="1246414" cy="2215243"/>
          </a:xfrm>
          <a:custGeom>
            <a:avLst/>
            <a:gdLst>
              <a:gd name="connsiteX0" fmla="*/ 0 w 1744980"/>
              <a:gd name="connsiteY0" fmla="*/ 0 h 3101340"/>
              <a:gd name="connsiteX1" fmla="*/ 1744980 w 1744980"/>
              <a:gd name="connsiteY1" fmla="*/ 0 h 3101340"/>
              <a:gd name="connsiteX2" fmla="*/ 1744980 w 1744980"/>
              <a:gd name="connsiteY2" fmla="*/ 3101340 h 3101340"/>
              <a:gd name="connsiteX3" fmla="*/ 1211580 w 1744980"/>
              <a:gd name="connsiteY3" fmla="*/ 3101340 h 3101340"/>
              <a:gd name="connsiteX4" fmla="*/ 0 w 1744980"/>
              <a:gd name="connsiteY4" fmla="*/ 1417320 h 3101340"/>
              <a:gd name="connsiteX5" fmla="*/ 0 w 1744980"/>
              <a:gd name="connsiteY5" fmla="*/ 0 h 3101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4980" h="3101340">
                <a:moveTo>
                  <a:pt x="0" y="0"/>
                </a:moveTo>
                <a:lnTo>
                  <a:pt x="1744980" y="0"/>
                </a:lnTo>
                <a:lnTo>
                  <a:pt x="1744980" y="3101340"/>
                </a:lnTo>
                <a:lnTo>
                  <a:pt x="1211580" y="3101340"/>
                </a:lnTo>
                <a:lnTo>
                  <a:pt x="0" y="141732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A97BC2-B3C4-4289-BE7C-5F5B8D435844}"/>
              </a:ext>
            </a:extLst>
          </p:cNvPr>
          <p:cNvGrpSpPr/>
          <p:nvPr/>
        </p:nvGrpSpPr>
        <p:grpSpPr>
          <a:xfrm>
            <a:off x="2933938" y="5475105"/>
            <a:ext cx="6347797" cy="533400"/>
            <a:chOff x="4107513" y="7665147"/>
            <a:chExt cx="8886916" cy="746760"/>
          </a:xfrm>
        </p:grpSpPr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27838DD8-62A9-4A3A-8F3C-2976C68564D5}"/>
                </a:ext>
              </a:extLst>
            </p:cNvPr>
            <p:cNvSpPr txBox="1">
              <a:spLocks/>
            </p:cNvSpPr>
            <p:nvPr/>
          </p:nvSpPr>
          <p:spPr>
            <a:xfrm>
              <a:off x="4107513" y="7665147"/>
              <a:ext cx="8886916" cy="746760"/>
            </a:xfrm>
            <a:prstGeom prst="rect">
              <a:avLst/>
            </a:prstGeom>
            <a:solidFill>
              <a:srgbClr val="50B4C8">
                <a:alpha val="50196"/>
              </a:srgbClr>
            </a:solidFill>
          </p:spPr>
          <p:txBody>
            <a:bodyPr vert="horz" lIns="65314" tIns="32657" rIns="65314" bIns="32657" rtlCol="0" anchor="ctr" anchorCtr="0">
              <a:normAutofit/>
            </a:bodyPr>
            <a:lstStyle>
              <a:lvl1pPr marL="0" indent="0" algn="l" defTabSz="1280160" rtl="0" eaLnBrk="1" latinLnBrk="0" hangingPunct="1">
                <a:lnSpc>
                  <a:spcPct val="90000"/>
                </a:lnSpc>
                <a:spcBef>
                  <a:spcPts val="1680"/>
                </a:spcBef>
                <a:buFont typeface="Arial" pitchFamily="34" charset="0"/>
                <a:buNone/>
                <a:defRPr sz="1960" kern="1200">
                  <a:solidFill>
                    <a:srgbClr val="262626"/>
                  </a:solidFill>
                  <a:latin typeface="+mn-lt"/>
                  <a:ea typeface="+mn-ea"/>
                  <a:cs typeface="+mn-cs"/>
                </a:defRPr>
              </a:lvl1pPr>
              <a:lvl2pPr marL="6400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68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2801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400" i="1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9202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56032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20040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38404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44805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51206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18">
                <a:spcBef>
                  <a:spcPts val="1200"/>
                </a:spcBef>
              </a:pPr>
              <a:r>
                <a:rPr lang="en-IN" sz="2857" dirty="0">
                  <a:latin typeface="Calibri Light" panose="020F0302020204030204"/>
                </a:rPr>
                <a:t>     Space available for future expansion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E310A04-B6DF-4B51-81A1-78B2EA15A910}"/>
                </a:ext>
              </a:extLst>
            </p:cNvPr>
            <p:cNvSpPr/>
            <p:nvPr/>
          </p:nvSpPr>
          <p:spPr>
            <a:xfrm>
              <a:off x="4508132" y="7792583"/>
              <a:ext cx="504000" cy="504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6578"/>
              <a:endParaRPr lang="en-IN" sz="1286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523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8E19F2-6732-45E4-82C8-34D2143F70A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2C9D96-3B7A-4F93-BD8C-F9B25346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819" y="6175880"/>
            <a:ext cx="8227310" cy="682121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EXPANSION POSSIBILITY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E115931-AAD8-40EF-AC42-13A9515DB4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7017" y="13329"/>
          <a:ext cx="8242514" cy="5822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E115931-AAD8-40EF-AC42-13A9515DB4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7017" y="13329"/>
                        <a:ext cx="8242514" cy="5822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DE932EA-6C07-4EFC-8C17-D373D15EADE9}"/>
              </a:ext>
            </a:extLst>
          </p:cNvPr>
          <p:cNvSpPr/>
          <p:nvPr/>
        </p:nvSpPr>
        <p:spPr>
          <a:xfrm>
            <a:off x="4542620" y="3310481"/>
            <a:ext cx="1208314" cy="1251857"/>
          </a:xfrm>
          <a:custGeom>
            <a:avLst/>
            <a:gdLst>
              <a:gd name="connsiteX0" fmla="*/ 510540 w 1691640"/>
              <a:gd name="connsiteY0" fmla="*/ 0 h 1752600"/>
              <a:gd name="connsiteX1" fmla="*/ 1691640 w 1691640"/>
              <a:gd name="connsiteY1" fmla="*/ 0 h 1752600"/>
              <a:gd name="connsiteX2" fmla="*/ 1691640 w 1691640"/>
              <a:gd name="connsiteY2" fmla="*/ 1752600 h 1752600"/>
              <a:gd name="connsiteX3" fmla="*/ 0 w 1691640"/>
              <a:gd name="connsiteY3" fmla="*/ 1752600 h 1752600"/>
              <a:gd name="connsiteX4" fmla="*/ 0 w 1691640"/>
              <a:gd name="connsiteY4" fmla="*/ 1066800 h 1752600"/>
              <a:gd name="connsiteX5" fmla="*/ 502920 w 1691640"/>
              <a:gd name="connsiteY5" fmla="*/ 1066800 h 1752600"/>
              <a:gd name="connsiteX6" fmla="*/ 510540 w 1691640"/>
              <a:gd name="connsiteY6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1640" h="1752600">
                <a:moveTo>
                  <a:pt x="510540" y="0"/>
                </a:moveTo>
                <a:lnTo>
                  <a:pt x="1691640" y="0"/>
                </a:lnTo>
                <a:lnTo>
                  <a:pt x="1691640" y="1752600"/>
                </a:lnTo>
                <a:lnTo>
                  <a:pt x="0" y="1752600"/>
                </a:lnTo>
                <a:lnTo>
                  <a:pt x="0" y="1066800"/>
                </a:lnTo>
                <a:lnTo>
                  <a:pt x="502920" y="1066800"/>
                </a:lnTo>
                <a:lnTo>
                  <a:pt x="51054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37A55C-E712-46E8-BFE6-6FC1CEB071E7}"/>
              </a:ext>
            </a:extLst>
          </p:cNvPr>
          <p:cNvSpPr/>
          <p:nvPr/>
        </p:nvSpPr>
        <p:spPr>
          <a:xfrm flipH="1">
            <a:off x="6432774" y="3310481"/>
            <a:ext cx="1208314" cy="1251857"/>
          </a:xfrm>
          <a:custGeom>
            <a:avLst/>
            <a:gdLst>
              <a:gd name="connsiteX0" fmla="*/ 510540 w 1691640"/>
              <a:gd name="connsiteY0" fmla="*/ 0 h 1752600"/>
              <a:gd name="connsiteX1" fmla="*/ 1691640 w 1691640"/>
              <a:gd name="connsiteY1" fmla="*/ 0 h 1752600"/>
              <a:gd name="connsiteX2" fmla="*/ 1691640 w 1691640"/>
              <a:gd name="connsiteY2" fmla="*/ 1752600 h 1752600"/>
              <a:gd name="connsiteX3" fmla="*/ 0 w 1691640"/>
              <a:gd name="connsiteY3" fmla="*/ 1752600 h 1752600"/>
              <a:gd name="connsiteX4" fmla="*/ 0 w 1691640"/>
              <a:gd name="connsiteY4" fmla="*/ 1066800 h 1752600"/>
              <a:gd name="connsiteX5" fmla="*/ 502920 w 1691640"/>
              <a:gd name="connsiteY5" fmla="*/ 1066800 h 1752600"/>
              <a:gd name="connsiteX6" fmla="*/ 510540 w 1691640"/>
              <a:gd name="connsiteY6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1640" h="1752600">
                <a:moveTo>
                  <a:pt x="510540" y="0"/>
                </a:moveTo>
                <a:lnTo>
                  <a:pt x="1691640" y="0"/>
                </a:lnTo>
                <a:lnTo>
                  <a:pt x="1691640" y="1752600"/>
                </a:lnTo>
                <a:lnTo>
                  <a:pt x="0" y="1752600"/>
                </a:lnTo>
                <a:lnTo>
                  <a:pt x="0" y="1066800"/>
                </a:lnTo>
                <a:lnTo>
                  <a:pt x="502920" y="1066800"/>
                </a:lnTo>
                <a:lnTo>
                  <a:pt x="51054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6F3897D-AD88-4458-8ACA-4B39E6635217}"/>
              </a:ext>
            </a:extLst>
          </p:cNvPr>
          <p:cNvGrpSpPr/>
          <p:nvPr/>
        </p:nvGrpSpPr>
        <p:grpSpPr>
          <a:xfrm>
            <a:off x="2933938" y="5475105"/>
            <a:ext cx="6347797" cy="533400"/>
            <a:chOff x="4107513" y="7665147"/>
            <a:chExt cx="8886916" cy="746760"/>
          </a:xfrm>
        </p:grpSpPr>
        <p:sp>
          <p:nvSpPr>
            <p:cNvPr id="11" name="Text Placeholder 3">
              <a:extLst>
                <a:ext uri="{FF2B5EF4-FFF2-40B4-BE49-F238E27FC236}">
                  <a16:creationId xmlns:a16="http://schemas.microsoft.com/office/drawing/2014/main" id="{0E5C2F3B-9AEC-41B6-B03F-3D1F194B9E32}"/>
                </a:ext>
              </a:extLst>
            </p:cNvPr>
            <p:cNvSpPr txBox="1">
              <a:spLocks/>
            </p:cNvSpPr>
            <p:nvPr/>
          </p:nvSpPr>
          <p:spPr>
            <a:xfrm>
              <a:off x="4107513" y="7665147"/>
              <a:ext cx="8886916" cy="746760"/>
            </a:xfrm>
            <a:prstGeom prst="rect">
              <a:avLst/>
            </a:prstGeom>
            <a:solidFill>
              <a:srgbClr val="50B4C8">
                <a:alpha val="50196"/>
              </a:srgbClr>
            </a:solidFill>
          </p:spPr>
          <p:txBody>
            <a:bodyPr vert="horz" lIns="65314" tIns="32657" rIns="65314" bIns="32657" rtlCol="0" anchor="ctr" anchorCtr="0">
              <a:normAutofit/>
            </a:bodyPr>
            <a:lstStyle>
              <a:lvl1pPr marL="0" indent="0" algn="l" defTabSz="1280160" rtl="0" eaLnBrk="1" latinLnBrk="0" hangingPunct="1">
                <a:lnSpc>
                  <a:spcPct val="90000"/>
                </a:lnSpc>
                <a:spcBef>
                  <a:spcPts val="1680"/>
                </a:spcBef>
                <a:buFont typeface="Arial" pitchFamily="34" charset="0"/>
                <a:buNone/>
                <a:defRPr sz="1960" kern="1200">
                  <a:solidFill>
                    <a:srgbClr val="262626"/>
                  </a:solidFill>
                  <a:latin typeface="+mn-lt"/>
                  <a:ea typeface="+mn-ea"/>
                  <a:cs typeface="+mn-cs"/>
                </a:defRPr>
              </a:lvl1pPr>
              <a:lvl2pPr marL="6400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68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2801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400" i="1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9202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56032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20040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38404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44805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51206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18">
                <a:spcBef>
                  <a:spcPts val="1200"/>
                </a:spcBef>
              </a:pPr>
              <a:r>
                <a:rPr lang="en-IN" sz="2857" dirty="0">
                  <a:latin typeface="Calibri Light" panose="020F0302020204030204"/>
                </a:rPr>
                <a:t>     Space available for future expansion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386FBB-F00F-4AEE-BBEB-918633EFDF65}"/>
                </a:ext>
              </a:extLst>
            </p:cNvPr>
            <p:cNvSpPr/>
            <p:nvPr/>
          </p:nvSpPr>
          <p:spPr>
            <a:xfrm>
              <a:off x="4508132" y="7792583"/>
              <a:ext cx="504000" cy="504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6578"/>
              <a:endParaRPr lang="en-IN" sz="1286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27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8E19F2-6732-45E4-82C8-34D2143F70A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2C9D96-3B7A-4F93-BD8C-F9B25346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819" y="6175880"/>
            <a:ext cx="8227310" cy="682121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EXPANSION POSSIBILITY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964510C3-7457-4230-A13C-67C6B1397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045" y="234"/>
          <a:ext cx="8235723" cy="581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964510C3-7457-4230-A13C-67C6B13976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0045" y="234"/>
                        <a:ext cx="8235723" cy="5817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F6A3A1B-A072-4C45-82EF-5713A618B49F}"/>
              </a:ext>
            </a:extLst>
          </p:cNvPr>
          <p:cNvSpPr/>
          <p:nvPr/>
        </p:nvSpPr>
        <p:spPr>
          <a:xfrm>
            <a:off x="3033549" y="2214404"/>
            <a:ext cx="450959" cy="101201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F46316-ACEF-418B-95A3-783A9ACB2F0D}"/>
              </a:ext>
            </a:extLst>
          </p:cNvPr>
          <p:cNvSpPr/>
          <p:nvPr/>
        </p:nvSpPr>
        <p:spPr>
          <a:xfrm>
            <a:off x="3413753" y="696268"/>
            <a:ext cx="450959" cy="101201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DB0ABD-2340-41FD-A958-3E44522EE3F9}"/>
              </a:ext>
            </a:extLst>
          </p:cNvPr>
          <p:cNvSpPr/>
          <p:nvPr/>
        </p:nvSpPr>
        <p:spPr>
          <a:xfrm>
            <a:off x="3415115" y="3350082"/>
            <a:ext cx="1578421" cy="1197424"/>
          </a:xfrm>
          <a:custGeom>
            <a:avLst/>
            <a:gdLst>
              <a:gd name="connsiteX0" fmla="*/ 247650 w 2238375"/>
              <a:gd name="connsiteY0" fmla="*/ 0 h 1714500"/>
              <a:gd name="connsiteX1" fmla="*/ 2238375 w 2238375"/>
              <a:gd name="connsiteY1" fmla="*/ 0 h 1714500"/>
              <a:gd name="connsiteX2" fmla="*/ 2238375 w 2238375"/>
              <a:gd name="connsiteY2" fmla="*/ 1185863 h 1714500"/>
              <a:gd name="connsiteX3" fmla="*/ 1709738 w 2238375"/>
              <a:gd name="connsiteY3" fmla="*/ 1185863 h 1714500"/>
              <a:gd name="connsiteX4" fmla="*/ 1709738 w 2238375"/>
              <a:gd name="connsiteY4" fmla="*/ 1714500 h 1714500"/>
              <a:gd name="connsiteX5" fmla="*/ 0 w 2238375"/>
              <a:gd name="connsiteY5" fmla="*/ 1714500 h 1714500"/>
              <a:gd name="connsiteX6" fmla="*/ 0 w 2238375"/>
              <a:gd name="connsiteY6" fmla="*/ 509588 h 1714500"/>
              <a:gd name="connsiteX7" fmla="*/ 257175 w 2238375"/>
              <a:gd name="connsiteY7" fmla="*/ 509588 h 1714500"/>
              <a:gd name="connsiteX8" fmla="*/ 247650 w 2238375"/>
              <a:gd name="connsiteY8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8375" h="1714500">
                <a:moveTo>
                  <a:pt x="247650" y="0"/>
                </a:moveTo>
                <a:lnTo>
                  <a:pt x="2238375" y="0"/>
                </a:lnTo>
                <a:lnTo>
                  <a:pt x="2238375" y="1185863"/>
                </a:lnTo>
                <a:lnTo>
                  <a:pt x="1709738" y="1185863"/>
                </a:lnTo>
                <a:lnTo>
                  <a:pt x="1709738" y="1714500"/>
                </a:lnTo>
                <a:lnTo>
                  <a:pt x="0" y="1714500"/>
                </a:lnTo>
                <a:lnTo>
                  <a:pt x="0" y="509588"/>
                </a:lnTo>
                <a:lnTo>
                  <a:pt x="257175" y="509588"/>
                </a:lnTo>
                <a:lnTo>
                  <a:pt x="2476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5C8C929-4D1E-48D0-98F4-58E3AF63C29D}"/>
              </a:ext>
            </a:extLst>
          </p:cNvPr>
          <p:cNvSpPr/>
          <p:nvPr/>
        </p:nvSpPr>
        <p:spPr>
          <a:xfrm>
            <a:off x="7204248" y="3350082"/>
            <a:ext cx="1957161" cy="1200149"/>
          </a:xfrm>
          <a:custGeom>
            <a:avLst/>
            <a:gdLst>
              <a:gd name="connsiteX0" fmla="*/ 6350 w 2768600"/>
              <a:gd name="connsiteY0" fmla="*/ 0 h 1701800"/>
              <a:gd name="connsiteX1" fmla="*/ 1993900 w 2768600"/>
              <a:gd name="connsiteY1" fmla="*/ 0 h 1701800"/>
              <a:gd name="connsiteX2" fmla="*/ 1993900 w 2768600"/>
              <a:gd name="connsiteY2" fmla="*/ 514350 h 1701800"/>
              <a:gd name="connsiteX3" fmla="*/ 2768600 w 2768600"/>
              <a:gd name="connsiteY3" fmla="*/ 514350 h 1701800"/>
              <a:gd name="connsiteX4" fmla="*/ 2768600 w 2768600"/>
              <a:gd name="connsiteY4" fmla="*/ 1181100 h 1701800"/>
              <a:gd name="connsiteX5" fmla="*/ 2235200 w 2768600"/>
              <a:gd name="connsiteY5" fmla="*/ 1181100 h 1701800"/>
              <a:gd name="connsiteX6" fmla="*/ 2235200 w 2768600"/>
              <a:gd name="connsiteY6" fmla="*/ 1701800 h 1701800"/>
              <a:gd name="connsiteX7" fmla="*/ 539750 w 2768600"/>
              <a:gd name="connsiteY7" fmla="*/ 1701800 h 1701800"/>
              <a:gd name="connsiteX8" fmla="*/ 539750 w 2768600"/>
              <a:gd name="connsiteY8" fmla="*/ 1181100 h 1701800"/>
              <a:gd name="connsiteX9" fmla="*/ 0 w 2768600"/>
              <a:gd name="connsiteY9" fmla="*/ 1181100 h 1701800"/>
              <a:gd name="connsiteX10" fmla="*/ 6350 w 2768600"/>
              <a:gd name="connsiteY10" fmla="*/ 0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68600" h="1701800">
                <a:moveTo>
                  <a:pt x="6350" y="0"/>
                </a:moveTo>
                <a:lnTo>
                  <a:pt x="1993900" y="0"/>
                </a:lnTo>
                <a:lnTo>
                  <a:pt x="1993900" y="514350"/>
                </a:lnTo>
                <a:lnTo>
                  <a:pt x="2768600" y="514350"/>
                </a:lnTo>
                <a:lnTo>
                  <a:pt x="2768600" y="1181100"/>
                </a:lnTo>
                <a:lnTo>
                  <a:pt x="2235200" y="1181100"/>
                </a:lnTo>
                <a:lnTo>
                  <a:pt x="2235200" y="1701800"/>
                </a:lnTo>
                <a:lnTo>
                  <a:pt x="539750" y="1701800"/>
                </a:lnTo>
                <a:lnTo>
                  <a:pt x="539750" y="1181100"/>
                </a:lnTo>
                <a:lnTo>
                  <a:pt x="0" y="1181100"/>
                </a:lnTo>
                <a:cubicBezTo>
                  <a:pt x="2117" y="787400"/>
                  <a:pt x="4233" y="393700"/>
                  <a:pt x="635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2290FA-6AF6-4319-8EFA-61A3DF5069BA}"/>
              </a:ext>
            </a:extLst>
          </p:cNvPr>
          <p:cNvGrpSpPr/>
          <p:nvPr/>
        </p:nvGrpSpPr>
        <p:grpSpPr>
          <a:xfrm>
            <a:off x="2933938" y="5475105"/>
            <a:ext cx="6347797" cy="533400"/>
            <a:chOff x="4107513" y="7665147"/>
            <a:chExt cx="8886916" cy="746760"/>
          </a:xfrm>
        </p:grpSpPr>
        <p:sp>
          <p:nvSpPr>
            <p:cNvPr id="17" name="Text Placeholder 3">
              <a:extLst>
                <a:ext uri="{FF2B5EF4-FFF2-40B4-BE49-F238E27FC236}">
                  <a16:creationId xmlns:a16="http://schemas.microsoft.com/office/drawing/2014/main" id="{92B0FE65-EC58-4B26-9046-BE6889BF3BB0}"/>
                </a:ext>
              </a:extLst>
            </p:cNvPr>
            <p:cNvSpPr txBox="1">
              <a:spLocks/>
            </p:cNvSpPr>
            <p:nvPr/>
          </p:nvSpPr>
          <p:spPr>
            <a:xfrm>
              <a:off x="4107513" y="7665147"/>
              <a:ext cx="8886916" cy="746760"/>
            </a:xfrm>
            <a:prstGeom prst="rect">
              <a:avLst/>
            </a:prstGeom>
            <a:solidFill>
              <a:srgbClr val="50B4C8">
                <a:alpha val="50196"/>
              </a:srgbClr>
            </a:solidFill>
          </p:spPr>
          <p:txBody>
            <a:bodyPr vert="horz" lIns="65314" tIns="32657" rIns="65314" bIns="32657" rtlCol="0" anchor="ctr" anchorCtr="0">
              <a:normAutofit/>
            </a:bodyPr>
            <a:lstStyle>
              <a:lvl1pPr marL="0" indent="0" algn="l" defTabSz="1280160" rtl="0" eaLnBrk="1" latinLnBrk="0" hangingPunct="1">
                <a:lnSpc>
                  <a:spcPct val="90000"/>
                </a:lnSpc>
                <a:spcBef>
                  <a:spcPts val="1680"/>
                </a:spcBef>
                <a:buFont typeface="Arial" pitchFamily="34" charset="0"/>
                <a:buNone/>
                <a:defRPr sz="1960" kern="1200">
                  <a:solidFill>
                    <a:srgbClr val="262626"/>
                  </a:solidFill>
                  <a:latin typeface="+mn-lt"/>
                  <a:ea typeface="+mn-ea"/>
                  <a:cs typeface="+mn-cs"/>
                </a:defRPr>
              </a:lvl1pPr>
              <a:lvl2pPr marL="6400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68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2801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400" i="1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9202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56032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20040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38404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44805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51206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18">
                <a:spcBef>
                  <a:spcPts val="1200"/>
                </a:spcBef>
              </a:pPr>
              <a:r>
                <a:rPr lang="en-IN" sz="2857" dirty="0">
                  <a:latin typeface="Calibri Light" panose="020F0302020204030204"/>
                </a:rPr>
                <a:t>     Space available for future expansion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2C9AC1-DEF2-4442-8E62-991AD48E85A6}"/>
                </a:ext>
              </a:extLst>
            </p:cNvPr>
            <p:cNvSpPr/>
            <p:nvPr/>
          </p:nvSpPr>
          <p:spPr>
            <a:xfrm>
              <a:off x="4508132" y="7792583"/>
              <a:ext cx="504000" cy="504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6578"/>
              <a:endParaRPr lang="en-IN" sz="1286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23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991E8F6-ED28-4486-AD35-6D21184379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5508" y="7780"/>
          <a:ext cx="8223026" cy="5808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991E8F6-ED28-4486-AD35-6D2118437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5508" y="7780"/>
                        <a:ext cx="8223026" cy="5808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E944C22-E2E9-4266-AA22-8053F128D083}"/>
              </a:ext>
            </a:extLst>
          </p:cNvPr>
          <p:cNvSpPr/>
          <p:nvPr/>
        </p:nvSpPr>
        <p:spPr>
          <a:xfrm>
            <a:off x="3401787" y="683912"/>
            <a:ext cx="5382985" cy="10251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E19F2-6732-45E4-82C8-34D2143F70A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2C9D96-3B7A-4F93-BD8C-F9B25346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819" y="6175880"/>
            <a:ext cx="8227310" cy="682121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EXPANSION POSSIBILITY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34FEED-C08D-40D9-A0FC-1B1AB436C387}"/>
              </a:ext>
            </a:extLst>
          </p:cNvPr>
          <p:cNvGrpSpPr/>
          <p:nvPr/>
        </p:nvGrpSpPr>
        <p:grpSpPr>
          <a:xfrm>
            <a:off x="2933938" y="5475105"/>
            <a:ext cx="6347797" cy="533400"/>
            <a:chOff x="4107513" y="7665147"/>
            <a:chExt cx="8886916" cy="746760"/>
          </a:xfrm>
        </p:grpSpPr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7B94F9AD-5777-4788-B0DB-97A5E2A6B615}"/>
                </a:ext>
              </a:extLst>
            </p:cNvPr>
            <p:cNvSpPr txBox="1">
              <a:spLocks/>
            </p:cNvSpPr>
            <p:nvPr/>
          </p:nvSpPr>
          <p:spPr>
            <a:xfrm>
              <a:off x="4107513" y="7665147"/>
              <a:ext cx="8886916" cy="746760"/>
            </a:xfrm>
            <a:prstGeom prst="rect">
              <a:avLst/>
            </a:prstGeom>
            <a:solidFill>
              <a:srgbClr val="50B4C8">
                <a:alpha val="50196"/>
              </a:srgbClr>
            </a:solidFill>
          </p:spPr>
          <p:txBody>
            <a:bodyPr vert="horz" lIns="65314" tIns="32657" rIns="65314" bIns="32657" rtlCol="0" anchor="ctr" anchorCtr="0">
              <a:normAutofit/>
            </a:bodyPr>
            <a:lstStyle>
              <a:lvl1pPr marL="0" indent="0" algn="l" defTabSz="1280160" rtl="0" eaLnBrk="1" latinLnBrk="0" hangingPunct="1">
                <a:lnSpc>
                  <a:spcPct val="90000"/>
                </a:lnSpc>
                <a:spcBef>
                  <a:spcPts val="1680"/>
                </a:spcBef>
                <a:buFont typeface="Arial" pitchFamily="34" charset="0"/>
                <a:buNone/>
                <a:defRPr sz="1960" kern="1200">
                  <a:solidFill>
                    <a:srgbClr val="262626"/>
                  </a:solidFill>
                  <a:latin typeface="+mn-lt"/>
                  <a:ea typeface="+mn-ea"/>
                  <a:cs typeface="+mn-cs"/>
                </a:defRPr>
              </a:lvl1pPr>
              <a:lvl2pPr marL="6400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68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2801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400" i="1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9202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56032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20040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384048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448056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5120640" indent="0" algn="l" defTabSz="1280160" rtl="0" eaLnBrk="1" latinLnBrk="0" hangingPunct="1">
                <a:lnSpc>
                  <a:spcPct val="85000"/>
                </a:lnSpc>
                <a:spcBef>
                  <a:spcPts val="840"/>
                </a:spcBef>
                <a:buFont typeface="Arial" pitchFamily="34" charset="0"/>
                <a:buNone/>
                <a:defRPr sz="126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18">
                <a:spcBef>
                  <a:spcPts val="1200"/>
                </a:spcBef>
              </a:pPr>
              <a:r>
                <a:rPr lang="en-IN" sz="2857" dirty="0">
                  <a:latin typeface="Calibri Light" panose="020F0302020204030204"/>
                </a:rPr>
                <a:t>     Space available for future expansion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056FB8-7DF6-4FD2-B375-B53A128041DE}"/>
                </a:ext>
              </a:extLst>
            </p:cNvPr>
            <p:cNvSpPr/>
            <p:nvPr/>
          </p:nvSpPr>
          <p:spPr>
            <a:xfrm>
              <a:off x="4508132" y="7792583"/>
              <a:ext cx="504000" cy="504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6578"/>
              <a:endParaRPr lang="en-IN" sz="1286">
                <a:solidFill>
                  <a:prstClr val="white"/>
                </a:solidFill>
                <a:latin typeface="Calibri Light" panose="020F03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331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257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Abadi</vt:lpstr>
      <vt:lpstr>Arial</vt:lpstr>
      <vt:lpstr>Calibri</vt:lpstr>
      <vt:lpstr>Calibri Light</vt:lpstr>
      <vt:lpstr>Office Theme</vt:lpstr>
      <vt:lpstr>Metropolitan</vt:lpstr>
      <vt:lpstr>Acrobat Document</vt:lpstr>
      <vt:lpstr>Phasing &amp; Scope for Expansion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CONFIGURATION - EXPANSION POSSIBILITIES</vt:lpstr>
      <vt:lpstr>EXPANSION POSSIBILITY</vt:lpstr>
      <vt:lpstr>EXPANSION POSSIBILITY</vt:lpstr>
      <vt:lpstr>EXPANSION POSSIBILITY</vt:lpstr>
      <vt:lpstr>EXPANSION POSSIBILITY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 Phasing &amp;  Scope for Expansion</dc:title>
  <dc:creator>Thulasiraj Ravilla</dc:creator>
  <cp:lastModifiedBy>Sasipriya Karumanchi</cp:lastModifiedBy>
  <cp:revision>3</cp:revision>
  <dcterms:created xsi:type="dcterms:W3CDTF">2021-07-25T14:52:12Z</dcterms:created>
  <dcterms:modified xsi:type="dcterms:W3CDTF">2022-04-29T07:52:57Z</dcterms:modified>
</cp:coreProperties>
</file>